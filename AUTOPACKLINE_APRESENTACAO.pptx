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Boa tarde. Vou apresentar o estágio atual do AUTOPACKLINE seguindo a mesma ordem das telas disponíveis no sistema.</a:t>
            </a:r>
          </a:p>
          <a:p>
            <a:r>
              <a:t>Em cada slide veremos uma tela e sua função dentro do controle de rastreabilidade da linha de embalagem.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Dashboard funciona como a visão inicial do processo.</a:t>
            </a:r>
          </a:p>
          <a:p>
            <a:r>
              <a:t>Os filtros permitem analisar período, linha, produto e ordem de produção. Os dados apresentados vêm do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indicadores usam produção confirmada, jornada planejada, pausas e paradas registradas.</a:t>
            </a:r>
          </a:p>
          <a:p>
            <a:r>
              <a:t>O sistema mantém histórico diário e permite configurar limites de alerta.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é a principal tela utilizada no fluxo produtivo.</a:t>
            </a:r>
          </a:p>
          <a:p>
            <a:r>
              <a:t>O leitor USB funciona em modo teclado. O backend valida a leitura e o CLP simulado confirma a paletização.</a:t>
            </a:r>
          </a:p>
          <a:p>
            <a:r>
              <a:t>As ferramentas técnicas ficaram separadas para manter a operação simples.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Somente uma OP ativa alimenta o fluxo de leitura de cada linha.</a:t>
            </a:r>
          </a:p>
          <a:p>
            <a:r>
              <a:t>A quantidade produzida considera apenas unidades confirmadas no ciclo de paletização.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jornada produtiva pode ser configurada por linha.</a:t>
            </a:r>
          </a:p>
          <a:p>
            <a:r>
              <a:t>As pausas planejadas deixam de contar como tempo disponível. As paradas reais ficam registradas para análise de perdas.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área fica disponível para administradores.</a:t>
            </a:r>
          </a:p>
          <a:p>
            <a:r>
              <a:t>O objetivo é permitir ajustes do processo sem alterar o software sempre que uma capacidade, meta ou limite mudar.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tentativa de leitura gera evidência do resultado da validação.</a:t>
            </a:r>
          </a:p>
          <a:p>
            <a:r>
              <a:t>O histórico pode ser exportado e impresso sem carregar todos os registros de uma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tela concentra recursos técnicos que não pertencem à rotina do operador.</a:t>
            </a:r>
          </a:p>
          <a:p>
            <a:r>
              <a:t>O adaptador físico permanece bloqueado. Os testes atuais usam simulador e não abrem socket para o CLP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perfil Operador recebe Dashboard e Operação.</a:t>
            </a:r>
          </a:p>
          <a:p>
            <a:r>
              <a:t>O Supervisor acompanha gestão, indicadores, rastreabilidade e diagnóstico. O Administrador possui acesso completo e gerencia usuários.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software já possui o fluxo funcional completo para testes offline.</a:t>
            </a:r>
          </a:p>
          <a:p>
            <a:r>
              <a:t>Os dados exibidos são de desenvolvimento e podem ser substituídos pelos cadastros aprovados pelo cliente.</a:t>
            </a:r>
          </a:p>
          <a:p>
            <a:r>
              <a:t>A conexão física continuará bloqueada até a liberação formal do comissionamento.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Solicitações que a Elgin precisa confirmar ou disponibilizar antes da integração corporativa, do reteste e do comissionamento.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próximos passos começam pela validação das regras com o cliente.</a:t>
            </a:r>
          </a:p>
          <a:p>
            <a:r>
              <a:t>A integração física depende do alinhamento com a automação e da disponibilidade da máquina.</a:t>
            </a:r>
          </a:p>
          <a:p>
            <a:r>
              <a:t>Até essa liberação, o sistema permanece no modo simulado e seguro.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34EAF2C9-AB12-42AA-AAA9-50C73A73F849}"/>
              </a:ext>
            </a:extLst>
          </p:cNvPr>
          <p:cNvSpPr>
            <a:spLocks noGrp="1"/>
          </p:cNvSpPr>
          <p:nvPr/>
        </p:nvSpPr>
        <p:spPr>
          <a:xfrm>
            <a:off x="6286500" y="1095375"/>
            <a:ext cx="5238750" cy="4238625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9525">
            <a:solidFill>
              <a:srgbClr val="DDE7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7CBE03A-939F-4EFC-8305-FA04E0325805}"/>
              </a:ext>
            </a:extLst>
          </p:cNvPr>
          <p:cNvSpPr>
            <a:spLocks noGrp="1"/>
          </p:cNvSpPr>
          <p:nvPr/>
        </p:nvSpPr>
        <p:spPr>
          <a:xfrm>
            <a:off x="6762750" y="1619250"/>
            <a:ext cx="4286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38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38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AUTOPACKLINE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D8013BB-FACB-456D-AB14-AD2796EF25D5}"/>
              </a:ext>
            </a:extLst>
          </p:cNvPr>
          <p:cNvSpPr>
            <a:spLocks noGrp="1"/>
          </p:cNvSpPr>
          <p:nvPr/>
        </p:nvSpPr>
        <p:spPr>
          <a:xfrm>
            <a:off x="6781800" y="2428875"/>
            <a:ext cx="4095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1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Software de rastreabilidade para linha de embalagem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6391DC2-2FAF-4C33-A2A3-0339285CB1BB}"/>
              </a:ext>
            </a:extLst>
          </p:cNvPr>
          <p:cNvSpPr>
            <a:spLocks noGrp="1"/>
          </p:cNvSpPr>
          <p:nvPr/>
        </p:nvSpPr>
        <p:spPr>
          <a:xfrm>
            <a:off x="6781800" y="3457575"/>
            <a:ext cx="1143000" cy="6667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9BB21F8-A482-49CF-90D0-ABE121BE6D15}"/>
              </a:ext>
            </a:extLst>
          </p:cNvPr>
          <p:cNvSpPr>
            <a:spLocks noGrp="1"/>
          </p:cNvSpPr>
          <p:nvPr/>
        </p:nvSpPr>
        <p:spPr>
          <a:xfrm>
            <a:off x="6781800" y="3762375"/>
            <a:ext cx="4000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583"/>
          </a:bodyPr>
          <a:lstStyle/>
          <a:p>
            <a:pPr>
              <a:buNone/>
              <a:defRPr sz="1500">
                <a:solidFill>
                  <a:srgbClr val="52606D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52606D"/>
                </a:solidFill>
                <a:latin typeface="Calibri"/>
                <a:ea typeface="Calibri"/>
                <a:cs typeface="Calibri"/>
              </a:rPr>
              <a:t>Apresentação das telas e do desenvolvimento atual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9376B51-C903-4FD7-8E95-E2FE8D6BC2D2}"/>
              </a:ext>
            </a:extLst>
          </p:cNvPr>
          <p:cNvSpPr>
            <a:spLocks noGrp="1"/>
          </p:cNvSpPr>
          <p:nvPr/>
        </p:nvSpPr>
        <p:spPr>
          <a:xfrm>
            <a:off x="6781800" y="4524375"/>
            <a:ext cx="4000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20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Paulo Rezende  |  10/09/2026</a:t>
            </a:r>
          </a:p>
        </p:txBody>
      </p:sp>
    </p:spTree>
    <p:extLst>
      <p:ext uri="{BB962C8B-B14F-4D97-AF65-F5344CB8AC3E}">
        <p14:creationId xmlns:p14="http://schemas.microsoft.com/office/powerpoint/2010/main" val="1104801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3515760-9B90-4A39-B03F-E5F88EA02F81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B69DA5D-D33C-4D72-8907-2C74803484B6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109F4DC-893D-48B2-8A78-BB1299BD221E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B26BEE4-ABF9-4AA2-80EB-37EA207B0176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10429875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02C57E2-BD37-4FCE-B671-9985C50A983D}"/>
              </a:ext>
            </a:extLst>
          </p:cNvPr>
          <p:cNvSpPr>
            <a:spLocks noGrp="1"/>
          </p:cNvSpPr>
          <p:nvPr/>
        </p:nvSpPr>
        <p:spPr>
          <a:xfrm>
            <a:off x="1066800" y="5572125"/>
            <a:ext cx="995362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13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O Dashboard reúne o resultado da produção em uma visão rápida. A tela mostra leituras, taxa de aprovação, paletes, desempenho por hora e ocorrências que exigem atenção.</a:t>
            </a:r>
          </a:p>
        </p:txBody>
      </p:sp>
      <p:pic>
        <p:nvPicPr>
          <p:cNvPr id="16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2021" y="1140541"/>
            <a:ext cx="7576641" cy="426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7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7CB23BF-9D0D-4166-B701-BA9C531C2547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810D1D5-3798-4DAA-80F1-692513D7FFA1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Indicadores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38D8267-532B-417C-A427-8A3EC3126460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8DF37B1-8FD9-4106-9159-659A8AF5F700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10429875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8C0EEFF-A12A-4A04-8D75-2945F5B4026D}"/>
              </a:ext>
            </a:extLst>
          </p:cNvPr>
          <p:cNvSpPr>
            <a:spLocks noGrp="1"/>
          </p:cNvSpPr>
          <p:nvPr/>
        </p:nvSpPr>
        <p:spPr>
          <a:xfrm>
            <a:off x="1066800" y="5572125"/>
            <a:ext cx="995362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13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A tela de Indicadores acompanha disponibilidade, performance, qualidade e OEE. Os resultados podem ser filtrados, exportados em CSV e impressos para análise do período.</a:t>
            </a:r>
          </a:p>
        </p:txBody>
      </p:sp>
      <p:pic>
        <p:nvPicPr>
          <p:cNvPr id="16" name="Imagem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717" y="1126534"/>
            <a:ext cx="7652374" cy="430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94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CE8AF35-F8E6-4F86-8538-88B3ECF24044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B2AB2A2-0709-4C89-820D-70EA723953B3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Operação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E315CB2-8B68-405B-96F4-D45D15C40798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BD37F7D-709F-4A15-97AE-FD8B6721DDCA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10429875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F064EEB-6492-43CE-BCC7-84176CF10C07}"/>
              </a:ext>
            </a:extLst>
          </p:cNvPr>
          <p:cNvSpPr>
            <a:spLocks noGrp="1"/>
          </p:cNvSpPr>
          <p:nvPr/>
        </p:nvSpPr>
        <p:spPr>
          <a:xfrm>
            <a:off x="1066800" y="5572125"/>
            <a:ext cx="995362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13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A Operação concentra a seleção da linha e da OP ativa, a captura do QR ou código de barras e o retorno do ciclo produtivo. O operador acompanha validação, progresso e palete em uma única tela.</a:t>
            </a:r>
          </a:p>
        </p:txBody>
      </p:sp>
      <p:pic>
        <p:nvPicPr>
          <p:cNvPr id="16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717" y="1140542"/>
            <a:ext cx="7626930" cy="426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10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B02D2705-F505-45C8-BF8C-77863969FA28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A763C56-0655-49E2-B463-20449D2CE59D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Ordens de Produção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12FF3B1-8A50-43D7-AB07-D06CFF289893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E18210C-CAAA-4672-AC1D-EC2860A1456E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10429875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53DB686-E5FF-46B5-B14D-D3141B3718E4}"/>
              </a:ext>
            </a:extLst>
          </p:cNvPr>
          <p:cNvSpPr>
            <a:spLocks noGrp="1"/>
          </p:cNvSpPr>
          <p:nvPr/>
        </p:nvSpPr>
        <p:spPr>
          <a:xfrm>
            <a:off x="1066800" y="5572125"/>
            <a:ext cx="995362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13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A tela controla as ordens de produção por linha e produto. O sistema permite criar, editar, iniciar, pausar, finalizar ou cancelar uma OP conforme o perfil do usuário.</a:t>
            </a:r>
          </a:p>
        </p:txBody>
      </p:sp>
      <p:pic>
        <p:nvPicPr>
          <p:cNvPr id="16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923" y="1132944"/>
            <a:ext cx="7590154" cy="426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145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6F890D5-C66C-486C-99A2-2F5C1F9E73BD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40128C9-4E9A-4979-801A-6C493C49114B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Jornada e Paradas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98F3070-AFBD-48B0-B735-45B9792385DC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52806EF-EE67-4D1D-A671-E0016DC339D5}"/>
              </a:ext>
            </a:extLst>
          </p:cNvPr>
          <p:cNvSpPr>
            <a:spLocks noGrp="1"/>
          </p:cNvSpPr>
          <p:nvPr/>
        </p:nvSpPr>
        <p:spPr>
          <a:xfrm>
            <a:off x="914400" y="1014412"/>
            <a:ext cx="10429875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AE9FC38-3512-4646-9B63-65F7AFEC21EA}"/>
              </a:ext>
            </a:extLst>
          </p:cNvPr>
          <p:cNvSpPr>
            <a:spLocks noGrp="1"/>
          </p:cNvSpPr>
          <p:nvPr/>
        </p:nvSpPr>
        <p:spPr>
          <a:xfrm>
            <a:off x="1066800" y="5572125"/>
            <a:ext cx="995362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13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A tela registra turnos, pausas planejadas e paradas da linha. Essas informações formam a base para calcular disponibilidade e eficiência, inclusive em turnos que atravessam a meia-noite.</a:t>
            </a:r>
          </a:p>
        </p:txBody>
      </p:sp>
      <p:pic>
        <p:nvPicPr>
          <p:cNvPr id="16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5441" y="1111045"/>
            <a:ext cx="7707791" cy="423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B1B74CD-1053-41FF-90D8-F118B23A073A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67A3617-3ECF-4FED-AB9F-12D4975083C8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Configurações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D74D5EC-37E7-45F8-BC74-9DFC783ADB82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577FE5F-33CF-406F-9225-D57ABACEA937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10429875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D279DC3-5EF5-4732-AA90-9E387ECC0F78}"/>
              </a:ext>
            </a:extLst>
          </p:cNvPr>
          <p:cNvSpPr>
            <a:spLocks noGrp="1"/>
          </p:cNvSpPr>
          <p:nvPr/>
        </p:nvSpPr>
        <p:spPr>
          <a:xfrm>
            <a:off x="1066800" y="5572125"/>
            <a:ext cx="995362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13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A área de Configurações mantém produtos, linhas, quantidades por palete, metas e limites dos indicadores. Os valores permanecem editáveis no sistema e não ficam fixos no código.</a:t>
            </a:r>
          </a:p>
        </p:txBody>
      </p:sp>
      <p:pic>
        <p:nvPicPr>
          <p:cNvPr id="16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910" y="1170039"/>
            <a:ext cx="7524180" cy="423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43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5CC8AE34-48A2-48E6-98DD-EC9CEC45B7F2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020C7FB-BEDA-49B3-9FD2-B34BEB8F63B6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Rastreabilidade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1EB7F32-E76D-4E31-8F4B-048A45168889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080394B-D8D6-4E12-8830-CE840EB9DE24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10429875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5A75B90-C218-4393-A613-1C1E408DB953}"/>
              </a:ext>
            </a:extLst>
          </p:cNvPr>
          <p:cNvSpPr>
            <a:spLocks noGrp="1"/>
          </p:cNvSpPr>
          <p:nvPr/>
        </p:nvSpPr>
        <p:spPr>
          <a:xfrm>
            <a:off x="1066800" y="5572125"/>
            <a:ext cx="995362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13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A Rastreabilidade permite localizar leituras e paletes por período, linha, status, serial, EAN ou OP. A consulta inclui eventos válidos, inválidos, rejeitados e duplicados.</a:t>
            </a:r>
          </a:p>
        </p:txBody>
      </p:sp>
      <p:pic>
        <p:nvPicPr>
          <p:cNvPr id="16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664" y="1138276"/>
            <a:ext cx="7580671" cy="42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90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02DF920-E1C3-4439-89E1-B584AB0F828C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1E0AAB-E1B2-48F2-9182-B7D1304BE55E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Manutenção e Diagnóstico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6A33EE0-B549-470C-AB05-827016541E69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664606E-7D3C-483C-B01D-2E330EF876B6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10429875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CCE012-12D1-4247-913B-08DBF4586E7E}"/>
              </a:ext>
            </a:extLst>
          </p:cNvPr>
          <p:cNvSpPr>
            <a:spLocks noGrp="1"/>
          </p:cNvSpPr>
          <p:nvPr/>
        </p:nvSpPr>
        <p:spPr>
          <a:xfrm>
            <a:off x="1066800" y="5572125"/>
            <a:ext cx="995362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13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A área técnica reúne diagnóstico Modbus, simulador do CLP, resiliência, auditoria, health-check e preparação para comissionamento. O acesso fica restrito a Supervisor e Administrador.</a:t>
            </a:r>
          </a:p>
        </p:txBody>
      </p:sp>
      <p:pic>
        <p:nvPicPr>
          <p:cNvPr id="16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716" y="1164299"/>
            <a:ext cx="7534388" cy="423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71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FC2CFA0-C36D-4C70-844E-D58CF54C024B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86FC373-D2CF-4128-ACA7-A83A2F0DDC37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Usuários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BB21276-5AE4-479D-8186-6A98436306B6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34367F4-A6F4-4454-B1ED-6850FD558C5A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10429875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1FFDA19-A5BF-4D5B-B535-C09DFD4B9F35}"/>
              </a:ext>
            </a:extLst>
          </p:cNvPr>
          <p:cNvSpPr>
            <a:spLocks noGrp="1"/>
          </p:cNvSpPr>
          <p:nvPr/>
        </p:nvSpPr>
        <p:spPr>
          <a:xfrm>
            <a:off x="1066800" y="5572125"/>
            <a:ext cx="995362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13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A administração de usuários ocorre pelo próprio sistema. O administrador pode cadastrar pessoas, escolher o perfil, editar dados, redefinir senha e desativar acessos.</a:t>
            </a:r>
          </a:p>
        </p:txBody>
      </p:sp>
      <p:pic>
        <p:nvPicPr>
          <p:cNvPr id="16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906" y="1130830"/>
            <a:ext cx="7564737" cy="42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88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0AAD319F-99E1-4BDE-8532-CCB29C4F740F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9E04634-236E-4715-9C9F-185FAB8F4519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Estado atual do desenvolvimento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48F1A1E-3F5F-40EA-96CB-902572CF9F82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D400210-BCA9-4D42-962F-33176BEE89DC}"/>
              </a:ext>
            </a:extLst>
          </p:cNvPr>
          <p:cNvSpPr>
            <a:spLocks noGrp="1"/>
          </p:cNvSpPr>
          <p:nvPr/>
        </p:nvSpPr>
        <p:spPr>
          <a:xfrm>
            <a:off x="1066800" y="1238250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Aplicação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29B0B07-BFD0-488F-8A2D-EF2C002BE125}"/>
              </a:ext>
            </a:extLst>
          </p:cNvPr>
          <p:cNvSpPr>
            <a:spLocks noGrp="1"/>
          </p:cNvSpPr>
          <p:nvPr/>
        </p:nvSpPr>
        <p:spPr>
          <a:xfrm>
            <a:off x="3476625" y="12382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Frontend, backend e MySQL executando em Docker</a:t>
            </a:r>
          </a:p>
        </p:txBody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0C0FA2D8-E5F4-4B8F-8210-AB44038F4725}"/>
              </a:ext>
            </a:extLst>
          </p:cNvPr>
          <p:cNvSpPr>
            <a:spLocks noGrp="1"/>
          </p:cNvSpPr>
          <p:nvPr/>
        </p:nvSpPr>
        <p:spPr>
          <a:xfrm>
            <a:off x="1066800" y="1724025"/>
            <a:ext cx="9810750" cy="0"/>
          </a:xfrm>
          <a:prstGeom prst="line">
            <a:avLst/>
          </a:prstGeom>
          <a:noFill/>
          <a:ln w="9525">
            <a:solidFill>
              <a:srgbClr val="D9E4DD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4AE1E14-BE25-4751-8311-6801996BF265}"/>
              </a:ext>
            </a:extLst>
          </p:cNvPr>
          <p:cNvSpPr>
            <a:spLocks noGrp="1"/>
          </p:cNvSpPr>
          <p:nvPr/>
        </p:nvSpPr>
        <p:spPr>
          <a:xfrm>
            <a:off x="1066800" y="1981200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Banco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35543FD-BC9E-4774-A7CC-2426F9C6CA1D}"/>
              </a:ext>
            </a:extLst>
          </p:cNvPr>
          <p:cNvSpPr>
            <a:spLocks noGrp="1"/>
          </p:cNvSpPr>
          <p:nvPr/>
        </p:nvSpPr>
        <p:spPr>
          <a:xfrm>
            <a:off x="3476625" y="198120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17 tabelas e migration 0008 aplicada</a:t>
            </a: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70B0FEFD-C46C-46F1-84BA-B39E07F2A595}"/>
              </a:ext>
            </a:extLst>
          </p:cNvPr>
          <p:cNvSpPr>
            <a:spLocks noGrp="1"/>
          </p:cNvSpPr>
          <p:nvPr/>
        </p:nvSpPr>
        <p:spPr>
          <a:xfrm>
            <a:off x="1066800" y="2466975"/>
            <a:ext cx="9810750" cy="0"/>
          </a:xfrm>
          <a:prstGeom prst="line">
            <a:avLst/>
          </a:prstGeom>
          <a:noFill/>
          <a:ln w="9525">
            <a:solidFill>
              <a:srgbClr val="D9E4DD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828A788-C622-4497-8DDE-DD80FB45BACF}"/>
              </a:ext>
            </a:extLst>
          </p:cNvPr>
          <p:cNvSpPr>
            <a:spLocks noGrp="1"/>
          </p:cNvSpPr>
          <p:nvPr/>
        </p:nvSpPr>
        <p:spPr>
          <a:xfrm>
            <a:off x="1066800" y="2724150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Ambiente de teste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FE70CF9-199D-4418-9993-1DD972F4E859}"/>
              </a:ext>
            </a:extLst>
          </p:cNvPr>
          <p:cNvSpPr>
            <a:spLocks noGrp="1"/>
          </p:cNvSpPr>
          <p:nvPr/>
        </p:nvSpPr>
        <p:spPr>
          <a:xfrm>
            <a:off x="3476625" y="27241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3 linhas, 5 produtos e 10 ordens de produção</a:t>
            </a:r>
          </a:p>
        </p:txBody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23A8E5CA-8381-4666-88C7-941CF2B72E58}"/>
              </a:ext>
            </a:extLst>
          </p:cNvPr>
          <p:cNvSpPr>
            <a:spLocks noGrp="1"/>
          </p:cNvSpPr>
          <p:nvPr/>
        </p:nvSpPr>
        <p:spPr>
          <a:xfrm>
            <a:off x="1066800" y="3209925"/>
            <a:ext cx="9810750" cy="0"/>
          </a:xfrm>
          <a:prstGeom prst="line">
            <a:avLst/>
          </a:prstGeom>
          <a:noFill/>
          <a:ln w="9525">
            <a:solidFill>
              <a:srgbClr val="D9E4DD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1C61382-BE0D-4E17-90E7-232DE7D81772}"/>
              </a:ext>
            </a:extLst>
          </p:cNvPr>
          <p:cNvSpPr>
            <a:spLocks noGrp="1"/>
          </p:cNvSpPr>
          <p:nvPr/>
        </p:nvSpPr>
        <p:spPr>
          <a:xfrm>
            <a:off x="1066800" y="3467100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Rastreabilidade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36D3A64-51CD-4BA7-ADFB-E11C8482CB55}"/>
              </a:ext>
            </a:extLst>
          </p:cNvPr>
          <p:cNvSpPr>
            <a:spLocks noGrp="1"/>
          </p:cNvSpPr>
          <p:nvPr/>
        </p:nvSpPr>
        <p:spPr>
          <a:xfrm>
            <a:off x="3476625" y="346710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26 leituras e 7 paletes registrados no cenário demonstrado</a:t>
            </a:r>
          </a:p>
        </p:txBody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F19E36C8-675B-4A41-B780-A97F896A36B1}"/>
              </a:ext>
            </a:extLst>
          </p:cNvPr>
          <p:cNvSpPr>
            <a:spLocks noGrp="1"/>
          </p:cNvSpPr>
          <p:nvPr/>
        </p:nvSpPr>
        <p:spPr>
          <a:xfrm>
            <a:off x="1066800" y="3952875"/>
            <a:ext cx="9810750" cy="0"/>
          </a:xfrm>
          <a:prstGeom prst="line">
            <a:avLst/>
          </a:prstGeom>
          <a:noFill/>
          <a:ln w="9525">
            <a:solidFill>
              <a:srgbClr val="D9E4DD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768EE1D-8A1D-416E-B16D-9CFDA2E374D8}"/>
              </a:ext>
            </a:extLst>
          </p:cNvPr>
          <p:cNvSpPr>
            <a:spLocks noGrp="1"/>
          </p:cNvSpPr>
          <p:nvPr/>
        </p:nvSpPr>
        <p:spPr>
          <a:xfrm>
            <a:off x="1066800" y="4210050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Resiliência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7BE066B-A36C-47B3-A2E7-E4137BD1C9DC}"/>
              </a:ext>
            </a:extLst>
          </p:cNvPr>
          <p:cNvSpPr>
            <a:spLocks noGrp="1"/>
          </p:cNvSpPr>
          <p:nvPr/>
        </p:nvSpPr>
        <p:spPr>
          <a:xfrm>
            <a:off x="3476625" y="42100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10 de 10 cenários offline aprovados</a:t>
            </a:r>
          </a:p>
        </p:txBody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D1107451-FD2F-4CCC-9177-5B66880669C4}"/>
              </a:ext>
            </a:extLst>
          </p:cNvPr>
          <p:cNvSpPr>
            <a:spLocks noGrp="1"/>
          </p:cNvSpPr>
          <p:nvPr/>
        </p:nvSpPr>
        <p:spPr>
          <a:xfrm>
            <a:off x="1066800" y="4695825"/>
            <a:ext cx="9810750" cy="0"/>
          </a:xfrm>
          <a:prstGeom prst="line">
            <a:avLst/>
          </a:prstGeom>
          <a:noFill/>
          <a:ln w="9525">
            <a:solidFill>
              <a:srgbClr val="D9E4DD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B53B4D9-6E84-4E60-B8B1-A5B0EDD0AF7C}"/>
              </a:ext>
            </a:extLst>
          </p:cNvPr>
          <p:cNvSpPr>
            <a:spLocks noGrp="1"/>
          </p:cNvSpPr>
          <p:nvPr/>
        </p:nvSpPr>
        <p:spPr>
          <a:xfrm>
            <a:off x="1066800" y="4953000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 b="1">
                <a:solidFill>
                  <a:srgbClr val="A05A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A05A00"/>
                </a:solidFill>
                <a:latin typeface="Calibri"/>
                <a:ea typeface="Calibri"/>
                <a:cs typeface="Calibri"/>
              </a:rPr>
              <a:t>Integração física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4A7E5FD-9965-4B38-AA6B-2A3EDE192C2D}"/>
              </a:ext>
            </a:extLst>
          </p:cNvPr>
          <p:cNvSpPr>
            <a:spLocks noGrp="1"/>
          </p:cNvSpPr>
          <p:nvPr/>
        </p:nvSpPr>
        <p:spPr>
          <a:xfrm>
            <a:off x="3476625" y="495300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575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CLP real bloqueado e socket Modbus fechado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4AC6BB10-F962-42E5-9608-B17680FC253E}"/>
              </a:ext>
            </a:extLst>
          </p:cNvPr>
          <p:cNvSpPr>
            <a:spLocks noGrp="1"/>
          </p:cNvSpPr>
          <p:nvPr/>
        </p:nvSpPr>
        <p:spPr>
          <a:xfrm>
            <a:off x="1066800" y="5438775"/>
            <a:ext cx="9810750" cy="0"/>
          </a:xfrm>
          <a:prstGeom prst="line">
            <a:avLst/>
          </a:prstGeom>
          <a:noFill/>
          <a:ln w="9525">
            <a:solidFill>
              <a:srgbClr val="D9E4DD"/>
            </a:solidFill>
          </a:ln>
        </p:spPr>
      </p:sp>
    </p:spTree>
    <p:extLst>
      <p:ext uri="{BB962C8B-B14F-4D97-AF65-F5344CB8AC3E}">
        <p14:creationId xmlns:p14="http://schemas.microsoft.com/office/powerpoint/2010/main" val="785209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ainel branco">
            <a:extLst>
              <a:ext uri="{FF2B5EF4-FFF2-40B4-BE49-F238E27FC236}">
                <a16:creationId xmlns:a16="http://schemas.microsoft.com/office/drawing/2014/main" id="{44AE4479-BAC9-4327-8C34-62181062F939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A322BD41-DD21-4F73-8A24-0CEA87E8E102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Necessidades da Elgin para integração</a:t>
            </a:r>
          </a:p>
        </p:txBody>
      </p:sp>
      <p:sp>
        <p:nvSpPr>
          <p:cNvPr id="4" name="Destaque verde">
            <a:extLst>
              <a:ext uri="{FF2B5EF4-FFF2-40B4-BE49-F238E27FC236}">
                <a16:creationId xmlns:a16="http://schemas.microsoft.com/office/drawing/2014/main" id="{9AB663EF-17B6-4FA8-9F61-C7240DE7736D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8B64B"/>
          </a:solidFill>
          <a:ln w="0">
            <a:noFill/>
          </a:ln>
        </p:spPr>
      </p:sp>
      <p:sp>
        <p:nvSpPr>
          <p:cNvPr id="5" name="Número 1">
            <a:extLst>
              <a:ext uri="{FF2B5EF4-FFF2-40B4-BE49-F238E27FC236}">
                <a16:creationId xmlns:a16="http://schemas.microsoft.com/office/drawing/2014/main" id="{8EF7955A-F54F-4324-8BB6-1E8569798FC5}"/>
              </a:ext>
            </a:extLst>
          </p:cNvPr>
          <p:cNvSpPr>
            <a:spLocks noGrp="1"/>
          </p:cNvSpPr>
          <p:nvPr/>
        </p:nvSpPr>
        <p:spPr>
          <a:xfrm>
            <a:off x="1047750" y="12382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00" b="1">
                <a:solidFill>
                  <a:srgbClr val="08B64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B64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Item 1">
            <a:extLst>
              <a:ext uri="{FF2B5EF4-FFF2-40B4-BE49-F238E27FC236}">
                <a16:creationId xmlns:a16="http://schemas.microsoft.com/office/drawing/2014/main" id="{5E3F703A-D511-4AFC-864A-44E7B3FA1EB0}"/>
              </a:ext>
            </a:extLst>
          </p:cNvPr>
          <p:cNvSpPr>
            <a:spLocks noGrp="1"/>
          </p:cNvSpPr>
          <p:nvPr/>
        </p:nvSpPr>
        <p:spPr>
          <a:xfrm>
            <a:off x="1762125" y="12382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Infraestrutura de rede</a:t>
            </a:r>
          </a:p>
        </p:txBody>
      </p:sp>
      <p:sp>
        <p:nvSpPr>
          <p:cNvPr id="7" name="Descrição 1">
            <a:extLst>
              <a:ext uri="{FF2B5EF4-FFF2-40B4-BE49-F238E27FC236}">
                <a16:creationId xmlns:a16="http://schemas.microsoft.com/office/drawing/2014/main" id="{01EA5BA9-8631-4203-9F6D-7F756FB971BA}"/>
              </a:ext>
            </a:extLst>
          </p:cNvPr>
          <p:cNvSpPr>
            <a:spLocks noGrp="1"/>
          </p:cNvSpPr>
          <p:nvPr/>
        </p:nvSpPr>
        <p:spPr>
          <a:xfrm>
            <a:off x="5143500" y="12382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>
                <a:solidFill>
                  <a:srgbClr val="171D2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Disponibilizar ponto corporativo, IP ou VLAN, gateway, DNS e liberações de firewall para o computador.</a:t>
            </a:r>
          </a:p>
        </p:txBody>
      </p:sp>
      <p:sp>
        <p:nvSpPr>
          <p:cNvPr id="8" name="Número 2">
            <a:extLst>
              <a:ext uri="{FF2B5EF4-FFF2-40B4-BE49-F238E27FC236}">
                <a16:creationId xmlns:a16="http://schemas.microsoft.com/office/drawing/2014/main" id="{B3E0701E-2B8A-4DA7-B545-3C9AA866ECA9}"/>
              </a:ext>
            </a:extLst>
          </p:cNvPr>
          <p:cNvSpPr>
            <a:spLocks noGrp="1"/>
          </p:cNvSpPr>
          <p:nvPr/>
        </p:nvSpPr>
        <p:spPr>
          <a:xfrm>
            <a:off x="1047750" y="23050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00" b="1">
                <a:solidFill>
                  <a:srgbClr val="08B64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B64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9" name="Item 2">
            <a:extLst>
              <a:ext uri="{FF2B5EF4-FFF2-40B4-BE49-F238E27FC236}">
                <a16:creationId xmlns:a16="http://schemas.microsoft.com/office/drawing/2014/main" id="{C7644856-888C-47A4-B1CC-44022DC02B69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Integração MES ou SAP</a:t>
            </a:r>
          </a:p>
        </p:txBody>
      </p:sp>
      <p:sp>
        <p:nvSpPr>
          <p:cNvPr id="10" name="Descrição 2">
            <a:extLst>
              <a:ext uri="{FF2B5EF4-FFF2-40B4-BE49-F238E27FC236}">
                <a16:creationId xmlns:a16="http://schemas.microsoft.com/office/drawing/2014/main" id="{D3D1F5EC-D27B-41C9-B9AB-9CBCB5A3167B}"/>
              </a:ext>
            </a:extLst>
          </p:cNvPr>
          <p:cNvSpPr>
            <a:spLocks noGrp="1"/>
          </p:cNvSpPr>
          <p:nvPr/>
        </p:nvSpPr>
        <p:spPr>
          <a:xfrm>
            <a:off x="5143500" y="23050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>
                <a:solidFill>
                  <a:srgbClr val="171D2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Confirmar o sistema responsável, documentação, ambiente de homologação e método de autenticação.</a:t>
            </a:r>
          </a:p>
        </p:txBody>
      </p:sp>
      <p:sp>
        <p:nvSpPr>
          <p:cNvPr id="11" name="Número 3">
            <a:extLst>
              <a:ext uri="{FF2B5EF4-FFF2-40B4-BE49-F238E27FC236}">
                <a16:creationId xmlns:a16="http://schemas.microsoft.com/office/drawing/2014/main" id="{A6CC42B6-B1F1-4638-B43C-9D68D5535FDF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00" b="1">
                <a:solidFill>
                  <a:srgbClr val="08B64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B64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2" name="Item 3">
            <a:extLst>
              <a:ext uri="{FF2B5EF4-FFF2-40B4-BE49-F238E27FC236}">
                <a16:creationId xmlns:a16="http://schemas.microsoft.com/office/drawing/2014/main" id="{3B880230-BFB8-4FC3-BE9A-35654AE88BB9}"/>
              </a:ext>
            </a:extLst>
          </p:cNvPr>
          <p:cNvSpPr>
            <a:spLocks noGrp="1"/>
          </p:cNvSpPr>
          <p:nvPr/>
        </p:nvSpPr>
        <p:spPr>
          <a:xfrm>
            <a:off x="1762125" y="33718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Reteste e rastreabilidade</a:t>
            </a:r>
          </a:p>
        </p:txBody>
      </p:sp>
      <p:sp>
        <p:nvSpPr>
          <p:cNvPr id="13" name="Descrição 3">
            <a:extLst>
              <a:ext uri="{FF2B5EF4-FFF2-40B4-BE49-F238E27FC236}">
                <a16:creationId xmlns:a16="http://schemas.microsoft.com/office/drawing/2014/main" id="{112B1BA3-9CD1-4429-92FF-7377DDF7833B}"/>
              </a:ext>
            </a:extLst>
          </p:cNvPr>
          <p:cNvSpPr>
            <a:spLocks noGrp="1"/>
          </p:cNvSpPr>
          <p:nvPr/>
        </p:nvSpPr>
        <p:spPr>
          <a:xfrm>
            <a:off x="5143500" y="33718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>
                <a:solidFill>
                  <a:srgbClr val="171D2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Confirmar o mesmo QR e serial, quem libera outra tentativa e quando a peça pode ser contabilizada.</a:t>
            </a:r>
          </a:p>
        </p:txBody>
      </p:sp>
      <p:sp>
        <p:nvSpPr>
          <p:cNvPr id="14" name="Número 4">
            <a:extLst>
              <a:ext uri="{FF2B5EF4-FFF2-40B4-BE49-F238E27FC236}">
                <a16:creationId xmlns:a16="http://schemas.microsoft.com/office/drawing/2014/main" id="{D66DA5FB-AC20-423A-9D3D-7EE6BC726552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00" b="1">
                <a:solidFill>
                  <a:srgbClr val="08B64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B64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5" name="Item 4">
            <a:extLst>
              <a:ext uri="{FF2B5EF4-FFF2-40B4-BE49-F238E27FC236}">
                <a16:creationId xmlns:a16="http://schemas.microsoft.com/office/drawing/2014/main" id="{91724F3B-1153-4F64-9407-93D0E776E839}"/>
              </a:ext>
            </a:extLst>
          </p:cNvPr>
          <p:cNvSpPr>
            <a:spLocks noGrp="1"/>
          </p:cNvSpPr>
          <p:nvPr/>
        </p:nvSpPr>
        <p:spPr>
          <a:xfrm>
            <a:off x="1762125" y="44386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Responsáveis pelo aceite</a:t>
            </a:r>
          </a:p>
        </p:txBody>
      </p:sp>
      <p:sp>
        <p:nvSpPr>
          <p:cNvPr id="16" name="Descrição 4">
            <a:extLst>
              <a:ext uri="{FF2B5EF4-FFF2-40B4-BE49-F238E27FC236}">
                <a16:creationId xmlns:a16="http://schemas.microsoft.com/office/drawing/2014/main" id="{CBDEE69F-78D5-46F4-9F46-F1FF98DFA9B4}"/>
              </a:ext>
            </a:extLst>
          </p:cNvPr>
          <p:cNvSpPr>
            <a:spLocks noGrp="1"/>
          </p:cNvSpPr>
          <p:nvPr/>
        </p:nvSpPr>
        <p:spPr>
          <a:xfrm>
            <a:off x="5143500" y="44386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>
                <a:solidFill>
                  <a:srgbClr val="171D2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Indicar contatos de TI, MES, produção, qualidade e automação para validação do fluxo.</a:t>
            </a:r>
          </a:p>
        </p:txBody>
      </p:sp>
      <p:sp>
        <p:nvSpPr>
          <p:cNvPr id="17" name="Faixa final">
            <a:extLst>
              <a:ext uri="{FF2B5EF4-FFF2-40B4-BE49-F238E27FC236}">
                <a16:creationId xmlns:a16="http://schemas.microsoft.com/office/drawing/2014/main" id="{0B7B77B3-D126-4320-848C-A969B5B37C44}"/>
              </a:ext>
            </a:extLst>
          </p:cNvPr>
          <p:cNvSpPr>
            <a:spLocks noGrp="1"/>
          </p:cNvSpPr>
          <p:nvPr/>
        </p:nvSpPr>
        <p:spPr>
          <a:xfrm>
            <a:off x="2143125" y="5572125"/>
            <a:ext cx="7905750" cy="552450"/>
          </a:xfrm>
          <a:prstGeom prst="roundRect">
            <a:avLst>
              <a:gd name="adj" fmla="val 13793"/>
            </a:avLst>
          </a:prstGeom>
          <a:solidFill>
            <a:srgbClr val="E8F7EE"/>
          </a:solidFill>
          <a:ln w="9525">
            <a:solidFill>
              <a:srgbClr val="67D78F"/>
            </a:solidFill>
          </a:ln>
        </p:spPr>
      </p:sp>
      <p:sp>
        <p:nvSpPr>
          <p:cNvPr id="18" name="Mensagem final">
            <a:extLst>
              <a:ext uri="{FF2B5EF4-FFF2-40B4-BE49-F238E27FC236}">
                <a16:creationId xmlns:a16="http://schemas.microsoft.com/office/drawing/2014/main" id="{7AB2D9A1-A4B8-4D4C-B050-71B4125E74F3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087B3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B35"/>
                </a:solidFill>
                <a:latin typeface="Calibri"/>
                <a:ea typeface="Calibri"/>
                <a:cs typeface="Calibri"/>
              </a:rPr>
              <a:t>Rede do CLP isolada da rede corporativa, com interfaces separadas</a:t>
            </a:r>
          </a:p>
        </p:txBody>
      </p:sp>
    </p:spTree>
    <p:extLst>
      <p:ext uri="{BB962C8B-B14F-4D97-AF65-F5344CB8AC3E}">
        <p14:creationId xmlns:p14="http://schemas.microsoft.com/office/powerpoint/2010/main" val="1658067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588329E3-85C3-41E1-9ECD-6F3903EBCD13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27CB344-780B-4534-B45C-B242ACF3D048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Próximos passos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C7B90E4-752F-4C01-92A7-5B66263CE414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8E9256F-DEB5-4EC5-A428-145DE7BFC842}"/>
              </a:ext>
            </a:extLst>
          </p:cNvPr>
          <p:cNvSpPr>
            <a:spLocks noGrp="1"/>
          </p:cNvSpPr>
          <p:nvPr/>
        </p:nvSpPr>
        <p:spPr>
          <a:xfrm>
            <a:off x="1047750" y="12382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E993FCF-2654-4B9B-A88B-18941281BD71}"/>
              </a:ext>
            </a:extLst>
          </p:cNvPr>
          <p:cNvSpPr>
            <a:spLocks noGrp="1"/>
          </p:cNvSpPr>
          <p:nvPr/>
        </p:nvSpPr>
        <p:spPr>
          <a:xfrm>
            <a:off x="1762125" y="12382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Validação funcional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BFBC101-D9AE-4C81-83C0-B24185821519}"/>
              </a:ext>
            </a:extLst>
          </p:cNvPr>
          <p:cNvSpPr>
            <a:spLocks noGrp="1"/>
          </p:cNvSpPr>
          <p:nvPr/>
        </p:nvSpPr>
        <p:spPr>
          <a:xfrm>
            <a:off x="5143500" y="12382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Confirmar o formato definitivo do QR ou código de barras e as regras de aceitação.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DB12C05-B6A6-41CA-B5F3-E084E9DB603E}"/>
              </a:ext>
            </a:extLst>
          </p:cNvPr>
          <p:cNvSpPr>
            <a:spLocks noGrp="1"/>
          </p:cNvSpPr>
          <p:nvPr/>
        </p:nvSpPr>
        <p:spPr>
          <a:xfrm>
            <a:off x="1047750" y="23050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C35BD70-7E94-4F71-B586-A01E259697B9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Cadastros do processo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D950FC0-CB60-41CF-9DEE-5517CF8998C7}"/>
              </a:ext>
            </a:extLst>
          </p:cNvPr>
          <p:cNvSpPr>
            <a:spLocks noGrp="1"/>
          </p:cNvSpPr>
          <p:nvPr/>
        </p:nvSpPr>
        <p:spPr>
          <a:xfrm>
            <a:off x="5143500" y="23050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Confirmar linhas, produtos, capacidades por palete, metas, turnos e perfis.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271EDEB-3CDE-425B-B43C-5EEEE9706A5C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5B22B69-EA4B-4852-BD9C-3AB35976491F}"/>
              </a:ext>
            </a:extLst>
          </p:cNvPr>
          <p:cNvSpPr>
            <a:spLocks noGrp="1"/>
          </p:cNvSpPr>
          <p:nvPr/>
        </p:nvSpPr>
        <p:spPr>
          <a:xfrm>
            <a:off x="1762125" y="33718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Integração com a automação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A3FE523-4F8A-42D9-BE6D-F0E89766744F}"/>
              </a:ext>
            </a:extLst>
          </p:cNvPr>
          <p:cNvSpPr>
            <a:spLocks noGrp="1"/>
          </p:cNvSpPr>
          <p:nvPr/>
        </p:nvSpPr>
        <p:spPr>
          <a:xfrm>
            <a:off x="5143500" y="33718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Definir ladder, endereços, offsets, byte order, IP e roteiro de testes na máquina.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B20A213-37B4-4EA5-AC24-152C04B95D9B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030F9BE-8C06-40E2-A174-800938D0EF20}"/>
              </a:ext>
            </a:extLst>
          </p:cNvPr>
          <p:cNvSpPr>
            <a:spLocks noGrp="1"/>
          </p:cNvSpPr>
          <p:nvPr/>
        </p:nvSpPr>
        <p:spPr>
          <a:xfrm>
            <a:off x="1762125" y="44386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Comissionamento físico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FD2F3E9-051B-4179-982E-1489835A9C69}"/>
              </a:ext>
            </a:extLst>
          </p:cNvPr>
          <p:cNvSpPr>
            <a:spLocks noGrp="1"/>
          </p:cNvSpPr>
          <p:nvPr/>
        </p:nvSpPr>
        <p:spPr>
          <a:xfrm>
            <a:off x="5143500" y="44386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Habilitar a conexão somente após autorização e fechamento das pendências técnicas.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8D0389E-FCA3-4B7E-8480-1D03A1120545}"/>
              </a:ext>
            </a:extLst>
          </p:cNvPr>
          <p:cNvSpPr>
            <a:spLocks noGrp="1"/>
          </p:cNvSpPr>
          <p:nvPr/>
        </p:nvSpPr>
        <p:spPr>
          <a:xfrm>
            <a:off x="2143125" y="5572125"/>
            <a:ext cx="7905750" cy="552450"/>
          </a:xfrm>
          <a:prstGeom prst="roundRect">
            <a:avLst>
              <a:gd name="adj" fmla="val 24138"/>
            </a:avLst>
          </a:prstGeom>
          <a:solidFill>
            <a:srgbClr val="E9F8EE"/>
          </a:solidFill>
          <a:ln w="11430">
            <a:solidFill>
              <a:srgbClr val="82D39C"/>
            </a:solidFill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3833A4B-0748-4BDB-8B6E-0F29E687AC63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848"/>
          </a:bodyPr>
          <a:lstStyle/>
          <a:p>
            <a:pPr algn="ctr">
              <a:buNone/>
              <a:defRPr sz="1650" b="1">
                <a:solidFill>
                  <a:srgbClr val="087A3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A35"/>
                </a:solidFill>
                <a:latin typeface="Calibri"/>
                <a:ea typeface="Calibri"/>
                <a:cs typeface="Calibri"/>
              </a:rPr>
              <a:t>Estado seguro mantido: CLP simulado e socket físico fechado</a:t>
            </a:r>
          </a:p>
        </p:txBody>
      </p:sp>
    </p:spTree>
    <p:extLst>
      <p:ext uri="{BB962C8B-B14F-4D97-AF65-F5344CB8AC3E}">
        <p14:creationId xmlns:p14="http://schemas.microsoft.com/office/powerpoint/2010/main" val="2007849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onecthus AUTOPACKLINE">
      <a:dk1>
        <a:srgbClr val="000000"/>
      </a:dk1>
      <a:lt1>
        <a:srgbClr val="FFFFFF"/>
      </a:lt1>
      <a:dk2>
        <a:srgbClr val="092C61"/>
      </a:dk2>
      <a:lt2>
        <a:srgbClr val="E5E7EB"/>
      </a:lt2>
      <a:accent1>
        <a:srgbClr val="06B945"/>
      </a:accent1>
      <a:accent2>
        <a:srgbClr val="0873B9"/>
      </a:accent2>
      <a:accent3>
        <a:srgbClr val="092C61"/>
      </a:accent3>
      <a:accent4>
        <a:srgbClr val="F0B429"/>
      </a:accent4>
      <a:accent5>
        <a:srgbClr val="6B7280"/>
      </a:accent5>
      <a:accent6>
        <a:srgbClr val="16A34A"/>
      </a:accent6>
      <a:hlink>
        <a:srgbClr val="0873B9"/>
      </a:hlink>
      <a:folHlink>
        <a:srgbClr val="6D28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ecthus AUTOPACKLIN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onecthus AUTOPACKLINE">
      <a:dk1>
        <a:srgbClr val="000000"/>
      </a:dk1>
      <a:lt1>
        <a:srgbClr val="FFFFFF"/>
      </a:lt1>
      <a:dk2>
        <a:srgbClr val="092C61"/>
      </a:dk2>
      <a:lt2>
        <a:srgbClr val="E5E7EB"/>
      </a:lt2>
      <a:accent1>
        <a:srgbClr val="06B945"/>
      </a:accent1>
      <a:accent2>
        <a:srgbClr val="0873B9"/>
      </a:accent2>
      <a:accent3>
        <a:srgbClr val="092C61"/>
      </a:accent3>
      <a:accent4>
        <a:srgbClr val="F0B429"/>
      </a:accent4>
      <a:accent5>
        <a:srgbClr val="6B7280"/>
      </a:accent5>
      <a:accent6>
        <a:srgbClr val="16A34A"/>
      </a:accent6>
      <a:hlink>
        <a:srgbClr val="0873B9"/>
      </a:hlink>
      <a:folHlink>
        <a:srgbClr val="6D28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ecthus AUTOPACKLIN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979</Words>
  <Application>Microsoft Office PowerPoint</Application>
  <DocSecurity>0</DocSecurity>
  <PresentationFormat>Widescreen</PresentationFormat>
  <Paragraphs>91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5" baseType="lpstr"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Paulo Victor Rezende Virginio</cp:lastModifiedBy>
  <cp:revision>1</cp:revision>
  <dcterms:created xsi:type="dcterms:W3CDTF">2026-09-10T19:58:26Z</dcterms:created>
  <dcterms:modified xsi:type="dcterms:W3CDTF">2026-09-10T20:24:48Z</dcterms:modified>
</cp:coreProperties>
</file>