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266" r:id="rId3"/>
    <p:sldId id="267" r:id="rId4"/>
    <p:sldId id="268" r:id="rId5"/>
    <p:sldId id="269" r:id="rId6"/>
    <p:sldId id="270" r:id="rId7"/>
    <p:sldId id="271" r:id="rId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84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97395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Boa tarde. Vou apresentar o estágio atual do AUTOPACKLINE seguindo a mesma ordem das telas disponíveis no sistema.</a:t>
            </a:r>
          </a:p>
          <a:p>
            <a:r>
              <a:t>Em cada slide veremos uma tela e sua função dentro do controle de rastreabilidade da linha de embalagem.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 software já possui o fluxo funcional completo para testes offline.</a:t>
            </a:r>
          </a:p>
          <a:p>
            <a:r>
              <a:t>Os dados exibidos são de desenvolvimento e podem ser substituídos pelos cadastros aprovados pelo cliente.</a:t>
            </a:r>
          </a:p>
          <a:p>
            <a:r>
              <a:t>A conexão física continuará bloqueada até a liberação formal do comissionamento.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Solicitações que a Elgin precisa confirmar ou disponibilizar antes da integração corporativa, do reteste e do comissionamento.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Os próximos passos começam pela validação das regras com o cliente.</a:t>
            </a:r>
          </a:p>
          <a:p>
            <a:r>
              <a:t>A integração física depende do alinhamento com a automação e da disponibilidade da máquina.</a:t>
            </a:r>
          </a:p>
          <a:p>
            <a:r>
              <a:t>Até essa liberação, o sistema permanece no modo simulado e seguro.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34EAF2C9-AB12-42AA-AAA9-50C73A73F849}"/>
              </a:ext>
            </a:extLst>
          </p:cNvPr>
          <p:cNvSpPr>
            <a:spLocks noGrp="1"/>
          </p:cNvSpPr>
          <p:nvPr/>
        </p:nvSpPr>
        <p:spPr>
          <a:xfrm>
            <a:off x="6286500" y="1095375"/>
            <a:ext cx="5238750" cy="4238625"/>
          </a:xfrm>
          <a:prstGeom prst="roundRect">
            <a:avLst>
              <a:gd name="adj" fmla="val 4045"/>
            </a:avLst>
          </a:prstGeom>
          <a:solidFill>
            <a:srgbClr val="FFFFFF"/>
          </a:solidFill>
          <a:ln w="9525">
            <a:solidFill>
              <a:srgbClr val="DDE7E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07CBE03A-939F-4EFC-8305-FA04E0325805}"/>
              </a:ext>
            </a:extLst>
          </p:cNvPr>
          <p:cNvSpPr>
            <a:spLocks noGrp="1"/>
          </p:cNvSpPr>
          <p:nvPr/>
        </p:nvSpPr>
        <p:spPr>
          <a:xfrm>
            <a:off x="6762750" y="1619250"/>
            <a:ext cx="4286250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buNone/>
              <a:defRPr sz="3825" b="1">
                <a:solidFill>
                  <a:srgbClr val="092C61"/>
                </a:solidFill>
                <a:latin typeface="Calibri"/>
                <a:ea typeface="Calibri"/>
                <a:cs typeface="Calibri"/>
              </a:defRPr>
            </a:pPr>
            <a:r>
              <a:rPr sz="3825" b="1">
                <a:solidFill>
                  <a:srgbClr val="092C61"/>
                </a:solidFill>
                <a:latin typeface="Calibri"/>
                <a:ea typeface="Calibri"/>
                <a:cs typeface="Calibri"/>
              </a:rPr>
              <a:t>AUTOPACKLINE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3D8013BB-FACB-456D-AB14-AD2796EF25D5}"/>
              </a:ext>
            </a:extLst>
          </p:cNvPr>
          <p:cNvSpPr>
            <a:spLocks noGrp="1"/>
          </p:cNvSpPr>
          <p:nvPr/>
        </p:nvSpPr>
        <p:spPr>
          <a:xfrm>
            <a:off x="6781800" y="2428875"/>
            <a:ext cx="4095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buNone/>
              <a:defRPr sz="2100">
                <a:solidFill>
                  <a:srgbClr val="111827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111827"/>
                </a:solidFill>
                <a:latin typeface="Calibri"/>
                <a:ea typeface="Calibri"/>
                <a:cs typeface="Calibri"/>
              </a:rPr>
              <a:t>Software de rastreabilidade para linha de embalagem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56391DC2-2FAF-4C33-A2A3-0339285CB1BB}"/>
              </a:ext>
            </a:extLst>
          </p:cNvPr>
          <p:cNvSpPr>
            <a:spLocks noGrp="1"/>
          </p:cNvSpPr>
          <p:nvPr/>
        </p:nvSpPr>
        <p:spPr>
          <a:xfrm>
            <a:off x="6781800" y="3457575"/>
            <a:ext cx="1143000" cy="66675"/>
          </a:xfrm>
          <a:prstGeom prst="rect">
            <a:avLst/>
          </a:prstGeom>
          <a:solidFill>
            <a:srgbClr val="06B945"/>
          </a:solidFill>
          <a:ln w="0">
            <a:solidFill>
              <a:srgbClr val="06B945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39BB21F8-A482-49CF-90D0-ABE121BE6D15}"/>
              </a:ext>
            </a:extLst>
          </p:cNvPr>
          <p:cNvSpPr>
            <a:spLocks noGrp="1"/>
          </p:cNvSpPr>
          <p:nvPr/>
        </p:nvSpPr>
        <p:spPr>
          <a:xfrm>
            <a:off x="6781800" y="3762375"/>
            <a:ext cx="4000500" cy="523875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rmAutofit fontScale="94583"/>
          </a:bodyPr>
          <a:lstStyle/>
          <a:p>
            <a:pPr>
              <a:buNone/>
              <a:defRPr sz="1500">
                <a:solidFill>
                  <a:srgbClr val="52606D"/>
                </a:solidFill>
                <a:latin typeface="Calibri"/>
                <a:ea typeface="Calibri"/>
                <a:cs typeface="Calibri"/>
              </a:defRPr>
            </a:pPr>
            <a:r>
              <a:rPr lang="pt-BR" sz="1350">
                <a:solidFill>
                  <a:srgbClr val="52606D"/>
                </a:solidFill>
                <a:latin typeface="Calibri"/>
                <a:ea typeface="Calibri"/>
                <a:cs typeface="Calibri"/>
              </a:rPr>
              <a:t>Apresentação das telas, do desenvolvimento atual e do status da integração com a automação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D9376B51-C903-4FD7-8E95-E2FE8D6BC2D2}"/>
              </a:ext>
            </a:extLst>
          </p:cNvPr>
          <p:cNvSpPr>
            <a:spLocks noGrp="1"/>
          </p:cNvSpPr>
          <p:nvPr/>
        </p:nvSpPr>
        <p:spPr>
          <a:xfrm>
            <a:off x="6781800" y="4524375"/>
            <a:ext cx="4000500" cy="3048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rmAutofit/>
          </a:bodyPr>
          <a:lstStyle/>
          <a:p>
            <a:pPr>
              <a:buNone/>
              <a:defRPr sz="1200" b="1">
                <a:solidFill>
                  <a:srgbClr val="092C61"/>
                </a:solidFill>
                <a:latin typeface="Calibri"/>
                <a:ea typeface="Calibri"/>
                <a:cs typeface="Calibri"/>
              </a:defRPr>
            </a:pPr>
            <a:r>
              <a:rPr lang="pt-BR" sz="1200" b="1" dirty="0" err="1">
                <a:solidFill>
                  <a:srgbClr val="092C61"/>
                </a:solidFill>
                <a:latin typeface="Calibri"/>
                <a:ea typeface="Calibri"/>
                <a:cs typeface="Calibri"/>
              </a:rPr>
              <a:t>Ádrio</a:t>
            </a:r>
            <a:r>
              <a:rPr lang="pt-BR" sz="1200" b="1" dirty="0">
                <a:solidFill>
                  <a:srgbClr val="092C61"/>
                </a:solidFill>
                <a:latin typeface="Calibri"/>
                <a:ea typeface="Calibri"/>
                <a:cs typeface="Calibri"/>
              </a:rPr>
              <a:t> Falcão e </a:t>
            </a:r>
            <a:r>
              <a:rPr sz="1200" b="1" dirty="0">
                <a:solidFill>
                  <a:srgbClr val="092C61"/>
                </a:solidFill>
                <a:latin typeface="Calibri"/>
                <a:ea typeface="Calibri"/>
                <a:cs typeface="Calibri"/>
              </a:rPr>
              <a:t>Paulo Rezende  |  </a:t>
            </a:r>
            <a:r>
              <a:rPr lang="pt-BR" sz="1200" b="1" dirty="0">
                <a:solidFill>
                  <a:srgbClr val="092C61"/>
                </a:solidFill>
                <a:latin typeface="Calibri"/>
                <a:ea typeface="Calibri"/>
                <a:cs typeface="Calibri"/>
              </a:rPr>
              <a:t>18/09/2026</a:t>
            </a:r>
            <a:endParaRPr sz="1200" b="1" dirty="0">
              <a:solidFill>
                <a:srgbClr val="092C6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048010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Imagem 2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0AAD319F-99E1-4BDE-8532-CCB29C4F740F}"/>
              </a:ext>
            </a:extLst>
          </p:cNvPr>
          <p:cNvSpPr>
            <a:spLocks noGrp="1"/>
          </p:cNvSpPr>
          <p:nvPr/>
        </p:nvSpPr>
        <p:spPr>
          <a:xfrm>
            <a:off x="723900" y="171450"/>
            <a:ext cx="10572750" cy="61722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59E04634-236E-4715-9C9F-185FAB8F4519}"/>
              </a:ext>
            </a:extLst>
          </p:cNvPr>
          <p:cNvSpPr>
            <a:spLocks noGrp="1"/>
          </p:cNvSpPr>
          <p:nvPr/>
        </p:nvSpPr>
        <p:spPr>
          <a:xfrm>
            <a:off x="914400" y="266700"/>
            <a:ext cx="9906000" cy="523875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rmAutofit fontScale="99561"/>
          </a:bodyPr>
          <a:lstStyle/>
          <a:p>
            <a:pPr>
              <a:buNone/>
              <a:defRPr sz="2850" b="1">
                <a:solidFill>
                  <a:srgbClr val="092C61"/>
                </a:solidFill>
                <a:latin typeface="Calibri"/>
                <a:ea typeface="Calibri"/>
                <a:cs typeface="Calibri"/>
              </a:defRPr>
            </a:pPr>
            <a:r>
              <a:rPr lang="pt-BR" sz="2850" b="1">
                <a:solidFill>
                  <a:srgbClr val="092C61"/>
                </a:solidFill>
                <a:latin typeface="Calibri"/>
                <a:ea typeface="Calibri"/>
                <a:cs typeface="Calibri"/>
              </a:rPr>
              <a:t>Validações concluídas</a:t>
            </a:r>
            <a:endParaRPr sz="2850" b="1">
              <a:solidFill>
                <a:srgbClr val="092C6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348F1A1E-3F5F-40EA-96CB-902572CF9F82}"/>
              </a:ext>
            </a:extLst>
          </p:cNvPr>
          <p:cNvSpPr>
            <a:spLocks noGrp="1"/>
          </p:cNvSpPr>
          <p:nvPr/>
        </p:nvSpPr>
        <p:spPr>
          <a:xfrm>
            <a:off x="914400" y="866775"/>
            <a:ext cx="781050" cy="47625"/>
          </a:xfrm>
          <a:prstGeom prst="rect">
            <a:avLst/>
          </a:prstGeom>
          <a:solidFill>
            <a:srgbClr val="06B945"/>
          </a:solidFill>
          <a:ln w="0">
            <a:solidFill>
              <a:srgbClr val="06B945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CD400210-BCA9-4D42-962F-33176BEE89DC}"/>
              </a:ext>
            </a:extLst>
          </p:cNvPr>
          <p:cNvSpPr>
            <a:spLocks noGrp="1"/>
          </p:cNvSpPr>
          <p:nvPr/>
        </p:nvSpPr>
        <p:spPr>
          <a:xfrm>
            <a:off x="1066800" y="1238250"/>
            <a:ext cx="2238375" cy="36195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rmAutofit/>
          </a:bodyPr>
          <a:lstStyle/>
          <a:p>
            <a:pPr>
              <a:buNone/>
              <a:defRPr sz="1575" b="1">
                <a:solidFill>
                  <a:srgbClr val="06B945"/>
                </a:solidFill>
                <a:latin typeface="Calibri"/>
                <a:ea typeface="Calibri"/>
                <a:cs typeface="Calibri"/>
              </a:defRPr>
            </a:pPr>
            <a:r>
              <a:rPr lang="pt-BR" sz="1575" b="1">
                <a:solidFill>
                  <a:srgbClr val="06B945"/>
                </a:solidFill>
                <a:latin typeface="Calibri"/>
                <a:ea typeface="Calibri"/>
                <a:cs typeface="Calibri"/>
              </a:rPr>
              <a:t>AUTOPACKLINE</a:t>
            </a:r>
            <a:endParaRPr sz="1575" b="1">
              <a:solidFill>
                <a:srgbClr val="06B945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229B0B07-BFD0-488F-8A2D-EF2C002BE125}"/>
              </a:ext>
            </a:extLst>
          </p:cNvPr>
          <p:cNvSpPr>
            <a:spLocks noGrp="1"/>
          </p:cNvSpPr>
          <p:nvPr/>
        </p:nvSpPr>
        <p:spPr>
          <a:xfrm>
            <a:off x="3476625" y="1238250"/>
            <a:ext cx="7429500" cy="40005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rmAutofit/>
          </a:bodyPr>
          <a:lstStyle/>
          <a:p>
            <a:pPr>
              <a:buNone/>
              <a:defRPr sz="1575">
                <a:solidFill>
                  <a:srgbClr val="111827"/>
                </a:solidFill>
                <a:latin typeface="Calibri"/>
                <a:ea typeface="Calibri"/>
                <a:cs typeface="Calibri"/>
              </a:defRPr>
            </a:pPr>
            <a:r>
              <a:rPr lang="pt-BR" sz="1500">
                <a:solidFill>
                  <a:srgbClr val="111827"/>
                </a:solidFill>
                <a:latin typeface="Calibri"/>
                <a:ea typeface="Calibri"/>
                <a:cs typeface="Calibri"/>
              </a:rPr>
              <a:t>127 testes automatizados aprovados</a:t>
            </a:r>
          </a:p>
        </p:txBody>
      </p:sp>
      <p:sp>
        <p:nvSpPr>
          <p:cNvPr id="7" name="Conector reto 6">
            <a:extLst>
              <a:ext uri="{FF2B5EF4-FFF2-40B4-BE49-F238E27FC236}">
                <a16:creationId xmlns:a16="http://schemas.microsoft.com/office/drawing/2014/main" id="{0C0FA2D8-E5F4-4B8F-8210-AB44038F4725}"/>
              </a:ext>
            </a:extLst>
          </p:cNvPr>
          <p:cNvSpPr>
            <a:spLocks noGrp="1"/>
          </p:cNvSpPr>
          <p:nvPr/>
        </p:nvSpPr>
        <p:spPr>
          <a:xfrm>
            <a:off x="1066800" y="1724025"/>
            <a:ext cx="9810750" cy="0"/>
          </a:xfrm>
          <a:prstGeom prst="line">
            <a:avLst/>
          </a:prstGeom>
          <a:noFill/>
          <a:ln w="9525">
            <a:solidFill>
              <a:srgbClr val="D9E4DD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64AE1E14-BE25-4751-8311-6801996BF265}"/>
              </a:ext>
            </a:extLst>
          </p:cNvPr>
          <p:cNvSpPr>
            <a:spLocks noGrp="1"/>
          </p:cNvSpPr>
          <p:nvPr/>
        </p:nvSpPr>
        <p:spPr>
          <a:xfrm>
            <a:off x="1066800" y="1981200"/>
            <a:ext cx="2238375" cy="36195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rmAutofit/>
          </a:bodyPr>
          <a:lstStyle/>
          <a:p>
            <a:pPr>
              <a:buNone/>
              <a:defRPr sz="1575" b="1">
                <a:solidFill>
                  <a:srgbClr val="06B945"/>
                </a:solidFill>
                <a:latin typeface="Calibri"/>
                <a:ea typeface="Calibri"/>
                <a:cs typeface="Calibri"/>
              </a:defRPr>
            </a:pPr>
            <a:r>
              <a:rPr lang="pt-BR" sz="1575" b="1">
                <a:solidFill>
                  <a:srgbClr val="06B945"/>
                </a:solidFill>
                <a:latin typeface="Calibri"/>
                <a:ea typeface="Calibri"/>
                <a:cs typeface="Calibri"/>
              </a:rPr>
              <a:t>Build e banco</a:t>
            </a:r>
            <a:endParaRPr sz="1575" b="1">
              <a:solidFill>
                <a:srgbClr val="06B945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635543FD-BC9E-4774-A7CC-2426F9C6CA1D}"/>
              </a:ext>
            </a:extLst>
          </p:cNvPr>
          <p:cNvSpPr>
            <a:spLocks noGrp="1"/>
          </p:cNvSpPr>
          <p:nvPr/>
        </p:nvSpPr>
        <p:spPr>
          <a:xfrm>
            <a:off x="3476625" y="1981200"/>
            <a:ext cx="7429500" cy="40005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rmAutofit/>
          </a:bodyPr>
          <a:lstStyle/>
          <a:p>
            <a:pPr>
              <a:buNone/>
              <a:defRPr sz="1575">
                <a:solidFill>
                  <a:srgbClr val="111827"/>
                </a:solidFill>
                <a:latin typeface="Calibri"/>
                <a:ea typeface="Calibri"/>
                <a:cs typeface="Calibri"/>
              </a:defRPr>
            </a:pPr>
            <a:r>
              <a:rPr lang="pt-BR" sz="1500">
                <a:solidFill>
                  <a:srgbClr val="111827"/>
                </a:solidFill>
                <a:latin typeface="Calibri"/>
                <a:ea typeface="Calibri"/>
                <a:cs typeface="Calibri"/>
              </a:rPr>
              <a:t>Frontend concluído; migration 0009 aplicada</a:t>
            </a:r>
          </a:p>
        </p:txBody>
      </p:sp>
      <p:sp>
        <p:nvSpPr>
          <p:cNvPr id="10" name="Conector reto 9">
            <a:extLst>
              <a:ext uri="{FF2B5EF4-FFF2-40B4-BE49-F238E27FC236}">
                <a16:creationId xmlns:a16="http://schemas.microsoft.com/office/drawing/2014/main" id="{70B0FEFD-C46C-46F1-84BA-B39E07F2A595}"/>
              </a:ext>
            </a:extLst>
          </p:cNvPr>
          <p:cNvSpPr>
            <a:spLocks noGrp="1"/>
          </p:cNvSpPr>
          <p:nvPr/>
        </p:nvSpPr>
        <p:spPr>
          <a:xfrm>
            <a:off x="1066800" y="2466975"/>
            <a:ext cx="9810750" cy="0"/>
          </a:xfrm>
          <a:prstGeom prst="line">
            <a:avLst/>
          </a:prstGeom>
          <a:noFill/>
          <a:ln w="9525">
            <a:solidFill>
              <a:srgbClr val="D9E4DD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7828A788-C622-4497-8DDE-DD80FB45BACF}"/>
              </a:ext>
            </a:extLst>
          </p:cNvPr>
          <p:cNvSpPr>
            <a:spLocks noGrp="1"/>
          </p:cNvSpPr>
          <p:nvPr/>
        </p:nvSpPr>
        <p:spPr>
          <a:xfrm>
            <a:off x="1066800" y="2724150"/>
            <a:ext cx="2238375" cy="36195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rmAutofit/>
          </a:bodyPr>
          <a:lstStyle/>
          <a:p>
            <a:pPr>
              <a:buNone/>
              <a:defRPr sz="1575" b="1">
                <a:solidFill>
                  <a:srgbClr val="06B945"/>
                </a:solidFill>
                <a:latin typeface="Calibri"/>
                <a:ea typeface="Calibri"/>
                <a:cs typeface="Calibri"/>
              </a:defRPr>
            </a:pPr>
            <a:r>
              <a:rPr lang="pt-BR" sz="1575" b="1">
                <a:solidFill>
                  <a:srgbClr val="06B945"/>
                </a:solidFill>
                <a:latin typeface="Calibri"/>
                <a:ea typeface="Calibri"/>
                <a:cs typeface="Calibri"/>
              </a:rPr>
              <a:t>Infraestrutura</a:t>
            </a:r>
            <a:endParaRPr sz="1575" b="1">
              <a:solidFill>
                <a:srgbClr val="06B945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0FE70CF9-199D-4418-9993-1DD972F4E859}"/>
              </a:ext>
            </a:extLst>
          </p:cNvPr>
          <p:cNvSpPr>
            <a:spLocks noGrp="1"/>
          </p:cNvSpPr>
          <p:nvPr/>
        </p:nvSpPr>
        <p:spPr>
          <a:xfrm>
            <a:off x="3476625" y="2724150"/>
            <a:ext cx="7429500" cy="40005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rmAutofit/>
          </a:bodyPr>
          <a:lstStyle/>
          <a:p>
            <a:pPr>
              <a:buNone/>
              <a:defRPr sz="1575">
                <a:solidFill>
                  <a:srgbClr val="111827"/>
                </a:solidFill>
                <a:latin typeface="Calibri"/>
                <a:ea typeface="Calibri"/>
                <a:cs typeface="Calibri"/>
              </a:defRPr>
            </a:pPr>
            <a:r>
              <a:rPr lang="pt-BR" sz="1450">
                <a:solidFill>
                  <a:srgbClr val="111827"/>
                </a:solidFill>
                <a:latin typeface="Calibri"/>
                <a:ea typeface="Calibri"/>
                <a:cs typeface="Calibri"/>
              </a:rPr>
              <a:t>Docker operacional; simulador externo validado; TCP 1502 confirmado</a:t>
            </a:r>
          </a:p>
        </p:txBody>
      </p:sp>
      <p:sp>
        <p:nvSpPr>
          <p:cNvPr id="13" name="Conector reto 12">
            <a:extLst>
              <a:ext uri="{FF2B5EF4-FFF2-40B4-BE49-F238E27FC236}">
                <a16:creationId xmlns:a16="http://schemas.microsoft.com/office/drawing/2014/main" id="{23A8E5CA-8381-4666-88C7-941CF2B72E58}"/>
              </a:ext>
            </a:extLst>
          </p:cNvPr>
          <p:cNvSpPr>
            <a:spLocks noGrp="1"/>
          </p:cNvSpPr>
          <p:nvPr/>
        </p:nvSpPr>
        <p:spPr>
          <a:xfrm>
            <a:off x="1066800" y="3209925"/>
            <a:ext cx="9810750" cy="0"/>
          </a:xfrm>
          <a:prstGeom prst="line">
            <a:avLst/>
          </a:prstGeom>
          <a:noFill/>
          <a:ln w="9525">
            <a:solidFill>
              <a:srgbClr val="D9E4DD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61C61382-BE0D-4E17-90E7-232DE7D81772}"/>
              </a:ext>
            </a:extLst>
          </p:cNvPr>
          <p:cNvSpPr>
            <a:spLocks noGrp="1"/>
          </p:cNvSpPr>
          <p:nvPr/>
        </p:nvSpPr>
        <p:spPr>
          <a:xfrm>
            <a:off x="1066800" y="3467100"/>
            <a:ext cx="2238375" cy="36195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rmAutofit/>
          </a:bodyPr>
          <a:lstStyle/>
          <a:p>
            <a:pPr>
              <a:buNone/>
              <a:defRPr sz="1575" b="1">
                <a:solidFill>
                  <a:srgbClr val="06B945"/>
                </a:solidFill>
                <a:latin typeface="Calibri"/>
                <a:ea typeface="Calibri"/>
                <a:cs typeface="Calibri"/>
              </a:defRPr>
            </a:pPr>
            <a:r>
              <a:rPr lang="pt-BR" sz="1575" b="1">
                <a:solidFill>
                  <a:srgbClr val="06B945"/>
                </a:solidFill>
                <a:latin typeface="Calibri"/>
                <a:ea typeface="Calibri"/>
                <a:cs typeface="Calibri"/>
              </a:rPr>
              <a:t>Segurança</a:t>
            </a:r>
            <a:endParaRPr sz="1575" b="1">
              <a:solidFill>
                <a:srgbClr val="06B945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636D3A64-51CD-4BA7-ADFB-E11C8482CB55}"/>
              </a:ext>
            </a:extLst>
          </p:cNvPr>
          <p:cNvSpPr>
            <a:spLocks noGrp="1"/>
          </p:cNvSpPr>
          <p:nvPr/>
        </p:nvSpPr>
        <p:spPr>
          <a:xfrm>
            <a:off x="3476625" y="3467100"/>
            <a:ext cx="7429500" cy="40005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rmAutofit/>
          </a:bodyPr>
          <a:lstStyle/>
          <a:p>
            <a:pPr>
              <a:buNone/>
              <a:defRPr sz="1575">
                <a:solidFill>
                  <a:srgbClr val="111827"/>
                </a:solidFill>
                <a:latin typeface="Calibri"/>
                <a:ea typeface="Calibri"/>
                <a:cs typeface="Calibri"/>
              </a:defRPr>
            </a:pPr>
            <a:r>
              <a:rPr lang="pt-BR" sz="1450">
                <a:solidFill>
                  <a:srgbClr val="111827"/>
                </a:solidFill>
                <a:latin typeface="Calibri"/>
                <a:ea typeface="Calibri"/>
                <a:cs typeface="Calibri"/>
              </a:rPr>
              <a:t>CLP real sem comunicação/escrita; simulador sem escrita no primeiro teste</a:t>
            </a:r>
          </a:p>
        </p:txBody>
      </p:sp>
      <p:sp>
        <p:nvSpPr>
          <p:cNvPr id="16" name="Conector reto 15">
            <a:extLst>
              <a:ext uri="{FF2B5EF4-FFF2-40B4-BE49-F238E27FC236}">
                <a16:creationId xmlns:a16="http://schemas.microsoft.com/office/drawing/2014/main" id="{F19E36C8-675B-4A41-B780-A97F896A36B1}"/>
              </a:ext>
            </a:extLst>
          </p:cNvPr>
          <p:cNvSpPr>
            <a:spLocks noGrp="1"/>
          </p:cNvSpPr>
          <p:nvPr/>
        </p:nvSpPr>
        <p:spPr>
          <a:xfrm>
            <a:off x="1066800" y="3952875"/>
            <a:ext cx="9810750" cy="0"/>
          </a:xfrm>
          <a:prstGeom prst="line">
            <a:avLst/>
          </a:prstGeom>
          <a:noFill/>
          <a:ln w="9525">
            <a:solidFill>
              <a:srgbClr val="D9E4DD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3768EE1D-8A1D-416E-B16D-9CFDA2E374D8}"/>
              </a:ext>
            </a:extLst>
          </p:cNvPr>
          <p:cNvSpPr>
            <a:spLocks noGrp="1"/>
          </p:cNvSpPr>
          <p:nvPr/>
        </p:nvSpPr>
        <p:spPr>
          <a:xfrm>
            <a:off x="1066800" y="4210050"/>
            <a:ext cx="2238375" cy="36195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rmAutofit/>
          </a:bodyPr>
          <a:lstStyle/>
          <a:p>
            <a:pPr>
              <a:buNone/>
              <a:defRPr sz="1575" b="1">
                <a:solidFill>
                  <a:srgbClr val="06B945"/>
                </a:solidFill>
                <a:latin typeface="Calibri"/>
                <a:ea typeface="Calibri"/>
                <a:cs typeface="Calibri"/>
              </a:defRPr>
            </a:pPr>
            <a:r>
              <a:rPr lang="pt-BR" sz="1575" b="1">
                <a:solidFill>
                  <a:srgbClr val="06B945"/>
                </a:solidFill>
                <a:latin typeface="Calibri"/>
                <a:ea typeface="Calibri"/>
                <a:cs typeface="Calibri"/>
              </a:rPr>
              <a:t>CLP-Simulator</a:t>
            </a:r>
            <a:endParaRPr sz="1575" b="1">
              <a:solidFill>
                <a:srgbClr val="06B945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17BE066B-A36C-47B3-A2E7-E4137BD1C9DC}"/>
              </a:ext>
            </a:extLst>
          </p:cNvPr>
          <p:cNvSpPr>
            <a:spLocks noGrp="1"/>
          </p:cNvSpPr>
          <p:nvPr/>
        </p:nvSpPr>
        <p:spPr>
          <a:xfrm>
            <a:off x="3476625" y="4210050"/>
            <a:ext cx="7429500" cy="40005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rmAutofit/>
          </a:bodyPr>
          <a:lstStyle/>
          <a:p>
            <a:pPr>
              <a:buNone/>
              <a:defRPr sz="1575">
                <a:solidFill>
                  <a:srgbClr val="111827"/>
                </a:solidFill>
                <a:latin typeface="Calibri"/>
                <a:ea typeface="Calibri"/>
                <a:cs typeface="Calibri"/>
              </a:defRPr>
            </a:pPr>
            <a:r>
              <a:rPr lang="pt-BR" sz="1450">
                <a:solidFill>
                  <a:srgbClr val="111827"/>
                </a:solidFill>
                <a:latin typeface="Calibri"/>
                <a:ea typeface="Calibri"/>
                <a:cs typeface="Calibri"/>
              </a:rPr>
              <a:t>6 testes automatizados aprovados e build concluído</a:t>
            </a:r>
          </a:p>
        </p:txBody>
      </p:sp>
      <p:sp>
        <p:nvSpPr>
          <p:cNvPr id="19" name="Conector reto 18">
            <a:extLst>
              <a:ext uri="{FF2B5EF4-FFF2-40B4-BE49-F238E27FC236}">
                <a16:creationId xmlns:a16="http://schemas.microsoft.com/office/drawing/2014/main" id="{D1107451-FD2F-4CCC-9177-5B66880669C4}"/>
              </a:ext>
            </a:extLst>
          </p:cNvPr>
          <p:cNvSpPr>
            <a:spLocks noGrp="1"/>
          </p:cNvSpPr>
          <p:nvPr/>
        </p:nvSpPr>
        <p:spPr>
          <a:xfrm>
            <a:off x="1066800" y="4695825"/>
            <a:ext cx="9810750" cy="0"/>
          </a:xfrm>
          <a:prstGeom prst="line">
            <a:avLst/>
          </a:prstGeom>
          <a:noFill/>
          <a:ln w="9525">
            <a:solidFill>
              <a:srgbClr val="D9E4DD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5B53B4D9-6E84-4E60-B8B1-A5B0EDD0AF7C}"/>
              </a:ext>
            </a:extLst>
          </p:cNvPr>
          <p:cNvSpPr>
            <a:spLocks noGrp="1"/>
          </p:cNvSpPr>
          <p:nvPr/>
        </p:nvSpPr>
        <p:spPr>
          <a:xfrm>
            <a:off x="1066800" y="4953000"/>
            <a:ext cx="2238375" cy="36195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rmAutofit/>
          </a:bodyPr>
          <a:lstStyle/>
          <a:p>
            <a:pPr>
              <a:buNone/>
              <a:defRPr sz="1575" b="1">
                <a:solidFill>
                  <a:srgbClr val="A05A00"/>
                </a:solidFill>
                <a:latin typeface="Calibri"/>
                <a:ea typeface="Calibri"/>
                <a:cs typeface="Calibri"/>
              </a:defRPr>
            </a:pPr>
            <a:r>
              <a:rPr lang="pt-BR" sz="1575" b="1">
                <a:solidFill>
                  <a:srgbClr val="A05A00"/>
                </a:solidFill>
                <a:latin typeface="Calibri"/>
                <a:ea typeface="Calibri"/>
                <a:cs typeface="Calibri"/>
              </a:rPr>
              <a:t>Perfil simulado</a:t>
            </a:r>
            <a:endParaRPr sz="1575" b="1">
              <a:solidFill>
                <a:srgbClr val="A05A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B4A7E5FD-9965-4B38-AA6B-2A3EDE192C2D}"/>
              </a:ext>
            </a:extLst>
          </p:cNvPr>
          <p:cNvSpPr>
            <a:spLocks noGrp="1"/>
          </p:cNvSpPr>
          <p:nvPr/>
        </p:nvSpPr>
        <p:spPr>
          <a:xfrm>
            <a:off x="3476625" y="4953000"/>
            <a:ext cx="7429500" cy="40005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rmAutofit/>
          </a:bodyPr>
          <a:lstStyle/>
          <a:p>
            <a:pPr>
              <a:buNone/>
              <a:defRPr sz="1575">
                <a:solidFill>
                  <a:srgbClr val="111827"/>
                </a:solidFill>
                <a:latin typeface="Calibri"/>
                <a:ea typeface="Calibri"/>
                <a:cs typeface="Calibri"/>
              </a:defRPr>
            </a:pPr>
            <a:r>
              <a:rPr lang="pt-BR" sz="1450">
                <a:solidFill>
                  <a:srgbClr val="111827"/>
                </a:solidFill>
                <a:latin typeface="Calibri"/>
                <a:ea typeface="Calibri"/>
                <a:cs typeface="Calibri"/>
              </a:rPr>
              <a:t>D700–D879, Rev.04, heartbeat, handshake, reteste e SR-1000; Modbus TCP 1502</a:t>
            </a:r>
          </a:p>
        </p:txBody>
      </p:sp>
      <p:sp>
        <p:nvSpPr>
          <p:cNvPr id="22" name="Conector reto 21">
            <a:extLst>
              <a:ext uri="{FF2B5EF4-FFF2-40B4-BE49-F238E27FC236}">
                <a16:creationId xmlns:a16="http://schemas.microsoft.com/office/drawing/2014/main" id="{4AC6BB10-F962-42E5-9608-B17680FC253E}"/>
              </a:ext>
            </a:extLst>
          </p:cNvPr>
          <p:cNvSpPr>
            <a:spLocks noGrp="1"/>
          </p:cNvSpPr>
          <p:nvPr/>
        </p:nvSpPr>
        <p:spPr>
          <a:xfrm>
            <a:off x="1066800" y="5438775"/>
            <a:ext cx="9810750" cy="0"/>
          </a:xfrm>
          <a:prstGeom prst="line">
            <a:avLst/>
          </a:prstGeom>
          <a:noFill/>
          <a:ln w="9525">
            <a:solidFill>
              <a:srgbClr val="D9E4DD"/>
            </a:solidFill>
          </a:ln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52098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m 18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Painel branco">
            <a:extLst>
              <a:ext uri="{FF2B5EF4-FFF2-40B4-BE49-F238E27FC236}">
                <a16:creationId xmlns:a16="http://schemas.microsoft.com/office/drawing/2014/main" id="{44AE4479-BAC9-4327-8C34-62181062F939}"/>
              </a:ext>
            </a:extLst>
          </p:cNvPr>
          <p:cNvSpPr>
            <a:spLocks noGrp="1"/>
          </p:cNvSpPr>
          <p:nvPr/>
        </p:nvSpPr>
        <p:spPr>
          <a:xfrm>
            <a:off x="723900" y="171450"/>
            <a:ext cx="10572750" cy="61722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" name="Título">
            <a:extLst>
              <a:ext uri="{FF2B5EF4-FFF2-40B4-BE49-F238E27FC236}">
                <a16:creationId xmlns:a16="http://schemas.microsoft.com/office/drawing/2014/main" id="{A322BD41-DD21-4F73-8A24-0CEA87E8E102}"/>
              </a:ext>
            </a:extLst>
          </p:cNvPr>
          <p:cNvSpPr>
            <a:spLocks noGrp="1"/>
          </p:cNvSpPr>
          <p:nvPr/>
        </p:nvSpPr>
        <p:spPr>
          <a:xfrm>
            <a:off x="914400" y="266700"/>
            <a:ext cx="9906000" cy="523875"/>
          </a:xfrm>
          <a:prstGeom prst="rect">
            <a:avLst/>
          </a:prstGeom>
          <a:noFill/>
          <a:ln w="0">
            <a:noFill/>
          </a:ln>
        </p:spPr>
        <p:txBody>
          <a:bodyPr wrap="square" anchor="ctr">
            <a:noAutofit/>
          </a:bodyPr>
          <a:lstStyle/>
          <a:p>
            <a:pPr>
              <a:defRPr sz="2850" b="1">
                <a:solidFill>
                  <a:srgbClr val="0B2F66"/>
                </a:solidFill>
                <a:latin typeface="Calibri"/>
                <a:ea typeface="Calibri"/>
                <a:cs typeface="Calibri"/>
              </a:defRPr>
            </a:pPr>
            <a:r>
              <a:rPr lang="pt-BR" sz="2850" b="1">
                <a:solidFill>
                  <a:srgbClr val="0B2F66"/>
                </a:solidFill>
                <a:latin typeface="Calibri"/>
                <a:ea typeface="Calibri"/>
                <a:cs typeface="Calibri"/>
              </a:rPr>
              <a:t>Avanços realizados nesta semana</a:t>
            </a:r>
            <a:endParaRPr sz="2850" b="1">
              <a:solidFill>
                <a:srgbClr val="0B2F66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" name="Destaque verde">
            <a:extLst>
              <a:ext uri="{FF2B5EF4-FFF2-40B4-BE49-F238E27FC236}">
                <a16:creationId xmlns:a16="http://schemas.microsoft.com/office/drawing/2014/main" id="{9AB663EF-17B6-4FA8-9F61-C7240DE7736D}"/>
              </a:ext>
            </a:extLst>
          </p:cNvPr>
          <p:cNvSpPr>
            <a:spLocks noGrp="1"/>
          </p:cNvSpPr>
          <p:nvPr/>
        </p:nvSpPr>
        <p:spPr>
          <a:xfrm>
            <a:off x="914400" y="866775"/>
            <a:ext cx="781050" cy="47625"/>
          </a:xfrm>
          <a:prstGeom prst="rect">
            <a:avLst/>
          </a:prstGeom>
          <a:solidFill>
            <a:srgbClr val="08B64B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" name="Número 1">
            <a:extLst>
              <a:ext uri="{FF2B5EF4-FFF2-40B4-BE49-F238E27FC236}">
                <a16:creationId xmlns:a16="http://schemas.microsoft.com/office/drawing/2014/main" id="{8EF7955A-F54F-4324-8BB6-1E8569798FC5}"/>
              </a:ext>
            </a:extLst>
          </p:cNvPr>
          <p:cNvSpPr>
            <a:spLocks noGrp="1"/>
          </p:cNvSpPr>
          <p:nvPr/>
        </p:nvSpPr>
        <p:spPr>
          <a:xfrm>
            <a:off x="1047750" y="1238250"/>
            <a:ext cx="523875" cy="523875"/>
          </a:xfrm>
          <a:prstGeom prst="rect">
            <a:avLst/>
          </a:prstGeom>
          <a:noFill/>
          <a:ln w="0">
            <a:noFill/>
          </a:ln>
        </p:spPr>
        <p:txBody>
          <a:bodyPr wrap="square" anchor="ctr">
            <a:noAutofit/>
          </a:bodyPr>
          <a:lstStyle/>
          <a:p>
            <a:pPr>
              <a:defRPr sz="2400" b="1">
                <a:solidFill>
                  <a:srgbClr val="08B64B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8B64B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6" name="Item 1">
            <a:extLst>
              <a:ext uri="{FF2B5EF4-FFF2-40B4-BE49-F238E27FC236}">
                <a16:creationId xmlns:a16="http://schemas.microsoft.com/office/drawing/2014/main" id="{5E3F703A-D511-4AFC-864A-44E7B3FA1EB0}"/>
              </a:ext>
            </a:extLst>
          </p:cNvPr>
          <p:cNvSpPr>
            <a:spLocks noGrp="1"/>
          </p:cNvSpPr>
          <p:nvPr/>
        </p:nvSpPr>
        <p:spPr>
          <a:xfrm>
            <a:off x="1762125" y="1238250"/>
            <a:ext cx="3333750" cy="428625"/>
          </a:xfrm>
          <a:prstGeom prst="rect">
            <a:avLst/>
          </a:prstGeom>
          <a:noFill/>
          <a:ln w="0">
            <a:noFill/>
          </a:ln>
        </p:spPr>
        <p:txBody>
          <a:bodyPr wrap="square" anchor="ctr">
            <a:noAutofit/>
          </a:bodyPr>
          <a:lstStyle/>
          <a:p>
            <a:pPr>
              <a:defRPr sz="1650" b="1">
                <a:solidFill>
                  <a:srgbClr val="0B2F66"/>
                </a:solidFill>
                <a:latin typeface="Calibri"/>
                <a:ea typeface="Calibri"/>
                <a:cs typeface="Calibri"/>
              </a:defRPr>
            </a:pPr>
            <a:r>
              <a:rPr lang="pt-BR" sz="1650" b="1">
                <a:solidFill>
                  <a:srgbClr val="0B2F66"/>
                </a:solidFill>
                <a:latin typeface="Calibri"/>
                <a:ea typeface="Calibri"/>
                <a:cs typeface="Calibri"/>
              </a:rPr>
              <a:t>Contrato e revisão</a:t>
            </a:r>
            <a:endParaRPr sz="1650" b="1">
              <a:solidFill>
                <a:srgbClr val="0B2F66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" name="Descrição 1">
            <a:extLst>
              <a:ext uri="{FF2B5EF4-FFF2-40B4-BE49-F238E27FC236}">
                <a16:creationId xmlns:a16="http://schemas.microsoft.com/office/drawing/2014/main" id="{01EA5BA9-8631-4203-9F6D-7F756FB971BA}"/>
              </a:ext>
            </a:extLst>
          </p:cNvPr>
          <p:cNvSpPr>
            <a:spLocks noGrp="1"/>
          </p:cNvSpPr>
          <p:nvPr/>
        </p:nvSpPr>
        <p:spPr>
          <a:xfrm>
            <a:off x="5143500" y="1238250"/>
            <a:ext cx="5715000" cy="590550"/>
          </a:xfrm>
          <a:prstGeom prst="rect">
            <a:avLst/>
          </a:prstGeom>
          <a:noFill/>
          <a:ln w="0">
            <a:noFill/>
          </a:ln>
        </p:spPr>
        <p:txBody>
          <a:bodyPr wrap="square" anchor="ctr">
            <a:noAutofit/>
          </a:bodyPr>
          <a:lstStyle/>
          <a:p>
            <a:pPr>
              <a:defRPr sz="1350">
                <a:solidFill>
                  <a:srgbClr val="171D28"/>
                </a:solidFill>
                <a:latin typeface="Calibri"/>
                <a:ea typeface="Calibri"/>
                <a:cs typeface="Calibri"/>
              </a:defRPr>
            </a:pPr>
            <a:r>
              <a:rPr lang="pt-BR" sz="1350">
                <a:solidFill>
                  <a:srgbClr val="171D28"/>
                </a:solidFill>
                <a:latin typeface="Calibri"/>
                <a:ea typeface="Calibri"/>
                <a:cs typeface="Calibri"/>
              </a:rPr>
              <a:t>Contrato Modbus TCP Rev.02 incorporado; compatibilidade preparada </a:t>
            </a:r>
            <a:r>
              <a:rPr sz="1350">
                <a:solidFill>
                  <a:srgbClr val="171D28"/>
                </a:solidFill>
                <a:latin typeface="Calibri"/>
                <a:ea typeface="Calibri"/>
                <a:cs typeface="Calibri"/>
              </a:rPr>
              <a:t>para o </a:t>
            </a:r>
            <a:r>
              <a:rPr lang="pt-BR" sz="1350">
                <a:solidFill>
                  <a:srgbClr val="171D28"/>
                </a:solidFill>
                <a:latin typeface="Calibri"/>
                <a:ea typeface="Calibri"/>
                <a:cs typeface="Calibri"/>
              </a:rPr>
              <a:t>Ladder Rev.04</a:t>
            </a:r>
            <a:r>
              <a:rPr sz="1350">
                <a:solidFill>
                  <a:srgbClr val="171D28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8" name="Número 2">
            <a:extLst>
              <a:ext uri="{FF2B5EF4-FFF2-40B4-BE49-F238E27FC236}">
                <a16:creationId xmlns:a16="http://schemas.microsoft.com/office/drawing/2014/main" id="{B3E0701E-2B8A-4DA7-B545-3C9AA866ECA9}"/>
              </a:ext>
            </a:extLst>
          </p:cNvPr>
          <p:cNvSpPr>
            <a:spLocks noGrp="1"/>
          </p:cNvSpPr>
          <p:nvPr/>
        </p:nvSpPr>
        <p:spPr>
          <a:xfrm>
            <a:off x="1047750" y="2305050"/>
            <a:ext cx="523875" cy="523875"/>
          </a:xfrm>
          <a:prstGeom prst="rect">
            <a:avLst/>
          </a:prstGeom>
          <a:noFill/>
          <a:ln w="0">
            <a:noFill/>
          </a:ln>
        </p:spPr>
        <p:txBody>
          <a:bodyPr wrap="square" anchor="ctr">
            <a:noAutofit/>
          </a:bodyPr>
          <a:lstStyle/>
          <a:p>
            <a:pPr>
              <a:defRPr sz="2400" b="1">
                <a:solidFill>
                  <a:srgbClr val="08B64B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8B64B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9" name="Item 2">
            <a:extLst>
              <a:ext uri="{FF2B5EF4-FFF2-40B4-BE49-F238E27FC236}">
                <a16:creationId xmlns:a16="http://schemas.microsoft.com/office/drawing/2014/main" id="{C7644856-888C-47A4-B1CC-44022DC02B69}"/>
              </a:ext>
            </a:extLst>
          </p:cNvPr>
          <p:cNvSpPr>
            <a:spLocks noGrp="1"/>
          </p:cNvSpPr>
          <p:nvPr/>
        </p:nvSpPr>
        <p:spPr>
          <a:xfrm>
            <a:off x="1762125" y="2305050"/>
            <a:ext cx="3333750" cy="428625"/>
          </a:xfrm>
          <a:prstGeom prst="rect">
            <a:avLst/>
          </a:prstGeom>
          <a:noFill/>
          <a:ln w="0">
            <a:noFill/>
          </a:ln>
        </p:spPr>
        <p:txBody>
          <a:bodyPr wrap="square" anchor="ctr">
            <a:noAutofit/>
          </a:bodyPr>
          <a:lstStyle/>
          <a:p>
            <a:pPr>
              <a:defRPr sz="1650" b="1">
                <a:solidFill>
                  <a:srgbClr val="0B2F66"/>
                </a:solidFill>
                <a:latin typeface="Calibri"/>
                <a:ea typeface="Calibri"/>
                <a:cs typeface="Calibri"/>
              </a:defRPr>
            </a:pPr>
            <a:r>
              <a:rPr lang="pt-BR" sz="1650" b="1">
                <a:solidFill>
                  <a:srgbClr val="0B2F66"/>
                </a:solidFill>
                <a:latin typeface="Calibri"/>
                <a:ea typeface="Calibri"/>
                <a:cs typeface="Calibri"/>
              </a:rPr>
              <a:t>Mapa de registradores</a:t>
            </a:r>
            <a:endParaRPr sz="1650" b="1">
              <a:solidFill>
                <a:srgbClr val="0B2F66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" name="Descrição 2">
            <a:extLst>
              <a:ext uri="{FF2B5EF4-FFF2-40B4-BE49-F238E27FC236}">
                <a16:creationId xmlns:a16="http://schemas.microsoft.com/office/drawing/2014/main" id="{D3D1F5EC-D27B-41C9-B9AB-9CBCB5A3167B}"/>
              </a:ext>
            </a:extLst>
          </p:cNvPr>
          <p:cNvSpPr>
            <a:spLocks noGrp="1"/>
          </p:cNvSpPr>
          <p:nvPr/>
        </p:nvSpPr>
        <p:spPr>
          <a:xfrm>
            <a:off x="5143500" y="2305050"/>
            <a:ext cx="5715000" cy="590550"/>
          </a:xfrm>
          <a:prstGeom prst="rect">
            <a:avLst/>
          </a:prstGeom>
          <a:noFill/>
          <a:ln w="0">
            <a:noFill/>
          </a:ln>
        </p:spPr>
        <p:txBody>
          <a:bodyPr wrap="square" anchor="ctr">
            <a:noAutofit/>
          </a:bodyPr>
          <a:lstStyle/>
          <a:p>
            <a:pPr>
              <a:defRPr sz="1350">
                <a:solidFill>
                  <a:srgbClr val="171D28"/>
                </a:solidFill>
                <a:latin typeface="Calibri"/>
                <a:ea typeface="Calibri"/>
                <a:cs typeface="Calibri"/>
              </a:defRPr>
            </a:pPr>
            <a:r>
              <a:rPr lang="pt-BR" sz="1350">
                <a:solidFill>
                  <a:srgbClr val="171D28"/>
                </a:solidFill>
                <a:latin typeface="Calibri"/>
                <a:ea typeface="Calibri"/>
                <a:cs typeface="Calibri"/>
              </a:rPr>
              <a:t>D700–D779 e SR-1000 D800–D879; D750=1</a:t>
            </a:r>
            <a:r>
              <a:rPr sz="1350">
                <a:solidFill>
                  <a:srgbClr val="171D28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pt-BR" sz="1350">
                <a:solidFill>
                  <a:srgbClr val="171D28"/>
                </a:solidFill>
                <a:latin typeface="Calibri"/>
                <a:ea typeface="Calibri"/>
                <a:cs typeface="Calibri"/>
              </a:rPr>
              <a:t>D764=4</a:t>
            </a:r>
            <a:r>
              <a:rPr sz="1350">
                <a:solidFill>
                  <a:srgbClr val="171D28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pt-BR" sz="1350">
                <a:solidFill>
                  <a:srgbClr val="171D28"/>
                </a:solidFill>
                <a:latin typeface="Calibri"/>
                <a:ea typeface="Calibri"/>
                <a:cs typeface="Calibri"/>
              </a:rPr>
              <a:t>D765=2026 </a:t>
            </a:r>
            <a:r>
              <a:rPr sz="1350">
                <a:solidFill>
                  <a:srgbClr val="171D28"/>
                </a:solidFill>
                <a:latin typeface="Calibri"/>
                <a:ea typeface="Calibri"/>
                <a:cs typeface="Calibri"/>
              </a:rPr>
              <a:t>e </a:t>
            </a:r>
            <a:r>
              <a:rPr lang="pt-BR" sz="1350">
                <a:solidFill>
                  <a:srgbClr val="171D28"/>
                </a:solidFill>
                <a:latin typeface="Calibri"/>
                <a:ea typeface="Calibri"/>
                <a:cs typeface="Calibri"/>
              </a:rPr>
              <a:t>D766=917</a:t>
            </a:r>
            <a:r>
              <a:rPr sz="1350">
                <a:solidFill>
                  <a:srgbClr val="171D28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11" name="Número 3">
            <a:extLst>
              <a:ext uri="{FF2B5EF4-FFF2-40B4-BE49-F238E27FC236}">
                <a16:creationId xmlns:a16="http://schemas.microsoft.com/office/drawing/2014/main" id="{A6CC42B6-B1F1-4638-B43C-9D68D5535FDF}"/>
              </a:ext>
            </a:extLst>
          </p:cNvPr>
          <p:cNvSpPr>
            <a:spLocks noGrp="1"/>
          </p:cNvSpPr>
          <p:nvPr/>
        </p:nvSpPr>
        <p:spPr>
          <a:xfrm>
            <a:off x="1047750" y="3371850"/>
            <a:ext cx="523875" cy="523875"/>
          </a:xfrm>
          <a:prstGeom prst="rect">
            <a:avLst/>
          </a:prstGeom>
          <a:noFill/>
          <a:ln w="0">
            <a:noFill/>
          </a:ln>
        </p:spPr>
        <p:txBody>
          <a:bodyPr wrap="square" anchor="ctr">
            <a:noAutofit/>
          </a:bodyPr>
          <a:lstStyle/>
          <a:p>
            <a:pPr>
              <a:defRPr sz="2400" b="1">
                <a:solidFill>
                  <a:srgbClr val="08B64B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8B64B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2" name="Item 3">
            <a:extLst>
              <a:ext uri="{FF2B5EF4-FFF2-40B4-BE49-F238E27FC236}">
                <a16:creationId xmlns:a16="http://schemas.microsoft.com/office/drawing/2014/main" id="{3B880230-BFB8-4FC3-BE9A-35654AE88BB9}"/>
              </a:ext>
            </a:extLst>
          </p:cNvPr>
          <p:cNvSpPr>
            <a:spLocks noGrp="1"/>
          </p:cNvSpPr>
          <p:nvPr/>
        </p:nvSpPr>
        <p:spPr>
          <a:xfrm>
            <a:off x="1762125" y="3371850"/>
            <a:ext cx="3333750" cy="428625"/>
          </a:xfrm>
          <a:prstGeom prst="rect">
            <a:avLst/>
          </a:prstGeom>
          <a:noFill/>
          <a:ln w="0">
            <a:noFill/>
          </a:ln>
        </p:spPr>
        <p:txBody>
          <a:bodyPr wrap="square" anchor="ctr">
            <a:noAutofit/>
          </a:bodyPr>
          <a:lstStyle/>
          <a:p>
            <a:pPr>
              <a:defRPr sz="1650" b="1">
                <a:solidFill>
                  <a:srgbClr val="0B2F66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0B2F66"/>
                </a:solidFill>
                <a:latin typeface="Calibri"/>
                <a:ea typeface="Calibri"/>
                <a:cs typeface="Calibri"/>
              </a:rPr>
              <a:t>Reteste e </a:t>
            </a:r>
            <a:r>
              <a:rPr lang="pt-BR" sz="1650" b="1">
                <a:solidFill>
                  <a:srgbClr val="0B2F66"/>
                </a:solidFill>
                <a:latin typeface="Calibri"/>
                <a:ea typeface="Calibri"/>
                <a:cs typeface="Calibri"/>
              </a:rPr>
              <a:t>rede</a:t>
            </a:r>
            <a:endParaRPr sz="1650" b="1">
              <a:solidFill>
                <a:srgbClr val="0B2F66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" name="Descrição 3">
            <a:extLst>
              <a:ext uri="{FF2B5EF4-FFF2-40B4-BE49-F238E27FC236}">
                <a16:creationId xmlns:a16="http://schemas.microsoft.com/office/drawing/2014/main" id="{112B1BA3-9CD1-4429-92FF-7377DDF7833B}"/>
              </a:ext>
            </a:extLst>
          </p:cNvPr>
          <p:cNvSpPr>
            <a:spLocks noGrp="1"/>
          </p:cNvSpPr>
          <p:nvPr/>
        </p:nvSpPr>
        <p:spPr>
          <a:xfrm>
            <a:off x="5143500" y="3371850"/>
            <a:ext cx="5715000" cy="590550"/>
          </a:xfrm>
          <a:prstGeom prst="rect">
            <a:avLst/>
          </a:prstGeom>
          <a:noFill/>
          <a:ln w="0">
            <a:noFill/>
          </a:ln>
        </p:spPr>
        <p:txBody>
          <a:bodyPr wrap="square" anchor="ctr">
            <a:noAutofit/>
          </a:bodyPr>
          <a:lstStyle/>
          <a:p>
            <a:pPr>
              <a:defRPr sz="1350">
                <a:solidFill>
                  <a:srgbClr val="171D28"/>
                </a:solidFill>
                <a:latin typeface="Calibri"/>
                <a:ea typeface="Calibri"/>
                <a:cs typeface="Calibri"/>
              </a:defRPr>
            </a:pPr>
            <a:r>
              <a:rPr lang="pt-BR" sz="1350">
                <a:solidFill>
                  <a:srgbClr val="171D28"/>
                </a:solidFill>
                <a:latin typeface="Calibri"/>
                <a:ea typeface="Calibri"/>
                <a:cs typeface="Calibri"/>
              </a:rPr>
              <a:t>Reteste em D705.4 </a:t>
            </a:r>
            <a:r>
              <a:rPr sz="1350">
                <a:solidFill>
                  <a:srgbClr val="171D28"/>
                </a:solidFill>
                <a:latin typeface="Calibri"/>
                <a:ea typeface="Calibri"/>
                <a:cs typeface="Calibri"/>
              </a:rPr>
              <a:t>e </a:t>
            </a:r>
            <a:r>
              <a:rPr lang="it-IT" sz="1350">
                <a:solidFill>
                  <a:srgbClr val="171D28"/>
                </a:solidFill>
                <a:latin typeface="Calibri"/>
                <a:ea typeface="Calibri"/>
                <a:cs typeface="Calibri"/>
              </a:rPr>
              <a:t>D749; IP, porta, Unit ID</a:t>
            </a:r>
            <a:r>
              <a:rPr sz="1350">
                <a:solidFill>
                  <a:srgbClr val="171D28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pt-BR" sz="1350">
                <a:solidFill>
                  <a:srgbClr val="171D28"/>
                </a:solidFill>
                <a:latin typeface="Calibri"/>
                <a:ea typeface="Calibri"/>
                <a:cs typeface="Calibri"/>
              </a:rPr>
              <a:t>offset </a:t>
            </a:r>
            <a:r>
              <a:rPr sz="1350">
                <a:solidFill>
                  <a:srgbClr val="171D28"/>
                </a:solidFill>
                <a:latin typeface="Calibri"/>
                <a:ea typeface="Calibri"/>
                <a:cs typeface="Calibri"/>
              </a:rPr>
              <a:t>e </a:t>
            </a:r>
            <a:r>
              <a:rPr lang="pt-BR" sz="1350">
                <a:solidFill>
                  <a:srgbClr val="171D28"/>
                </a:solidFill>
                <a:latin typeface="Calibri"/>
                <a:ea typeface="Calibri"/>
                <a:cs typeface="Calibri"/>
              </a:rPr>
              <a:t>byte order configuráveis</a:t>
            </a:r>
            <a:r>
              <a:rPr sz="1350">
                <a:solidFill>
                  <a:srgbClr val="171D28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14" name="Número 4">
            <a:extLst>
              <a:ext uri="{FF2B5EF4-FFF2-40B4-BE49-F238E27FC236}">
                <a16:creationId xmlns:a16="http://schemas.microsoft.com/office/drawing/2014/main" id="{D66DA5FB-AC20-423A-9D3D-7EE6BC726552}"/>
              </a:ext>
            </a:extLst>
          </p:cNvPr>
          <p:cNvSpPr>
            <a:spLocks noGrp="1"/>
          </p:cNvSpPr>
          <p:nvPr/>
        </p:nvSpPr>
        <p:spPr>
          <a:xfrm>
            <a:off x="1047750" y="4438650"/>
            <a:ext cx="523875" cy="523875"/>
          </a:xfrm>
          <a:prstGeom prst="rect">
            <a:avLst/>
          </a:prstGeom>
          <a:noFill/>
          <a:ln w="0">
            <a:noFill/>
          </a:ln>
        </p:spPr>
        <p:txBody>
          <a:bodyPr wrap="square" anchor="ctr">
            <a:noAutofit/>
          </a:bodyPr>
          <a:lstStyle/>
          <a:p>
            <a:pPr>
              <a:defRPr sz="2400" b="1">
                <a:solidFill>
                  <a:srgbClr val="08B64B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8B64B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15" name="Item 4">
            <a:extLst>
              <a:ext uri="{FF2B5EF4-FFF2-40B4-BE49-F238E27FC236}">
                <a16:creationId xmlns:a16="http://schemas.microsoft.com/office/drawing/2014/main" id="{91724F3B-1153-4F64-9407-93D0E776E839}"/>
              </a:ext>
            </a:extLst>
          </p:cNvPr>
          <p:cNvSpPr>
            <a:spLocks noGrp="1"/>
          </p:cNvSpPr>
          <p:nvPr/>
        </p:nvSpPr>
        <p:spPr>
          <a:xfrm>
            <a:off x="1762125" y="4438650"/>
            <a:ext cx="3333750" cy="428625"/>
          </a:xfrm>
          <a:prstGeom prst="rect">
            <a:avLst/>
          </a:prstGeom>
          <a:noFill/>
          <a:ln w="0">
            <a:noFill/>
          </a:ln>
        </p:spPr>
        <p:txBody>
          <a:bodyPr wrap="square" anchor="ctr">
            <a:noAutofit/>
          </a:bodyPr>
          <a:lstStyle/>
          <a:p>
            <a:pPr>
              <a:defRPr sz="1650" b="1">
                <a:solidFill>
                  <a:srgbClr val="0B2F66"/>
                </a:solidFill>
                <a:latin typeface="Calibri"/>
                <a:ea typeface="Calibri"/>
                <a:cs typeface="Calibri"/>
              </a:defRPr>
            </a:pPr>
            <a:r>
              <a:rPr lang="pt-BR" sz="1650" b="1">
                <a:solidFill>
                  <a:srgbClr val="0B2F66"/>
                </a:solidFill>
                <a:latin typeface="Calibri"/>
                <a:ea typeface="Calibri"/>
                <a:cs typeface="Calibri"/>
              </a:rPr>
              <a:t>Diagnóstico seguro</a:t>
            </a:r>
            <a:endParaRPr sz="1650" b="1">
              <a:solidFill>
                <a:srgbClr val="0B2F66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" name="Descrição 4">
            <a:extLst>
              <a:ext uri="{FF2B5EF4-FFF2-40B4-BE49-F238E27FC236}">
                <a16:creationId xmlns:a16="http://schemas.microsoft.com/office/drawing/2014/main" id="{CBDEE69F-78D5-46F4-9F46-F1FF98DFA9B4}"/>
              </a:ext>
            </a:extLst>
          </p:cNvPr>
          <p:cNvSpPr>
            <a:spLocks noGrp="1"/>
          </p:cNvSpPr>
          <p:nvPr/>
        </p:nvSpPr>
        <p:spPr>
          <a:xfrm>
            <a:off x="5143500" y="4438650"/>
            <a:ext cx="5715000" cy="590550"/>
          </a:xfrm>
          <a:prstGeom prst="rect">
            <a:avLst/>
          </a:prstGeom>
          <a:noFill/>
          <a:ln w="0">
            <a:noFill/>
          </a:ln>
        </p:spPr>
        <p:txBody>
          <a:bodyPr wrap="square" anchor="ctr">
            <a:noAutofit/>
          </a:bodyPr>
          <a:lstStyle/>
          <a:p>
            <a:pPr>
              <a:defRPr sz="1350">
                <a:solidFill>
                  <a:srgbClr val="171D28"/>
                </a:solidFill>
                <a:latin typeface="Calibri"/>
                <a:ea typeface="Calibri"/>
                <a:cs typeface="Calibri"/>
              </a:defRPr>
            </a:pPr>
            <a:r>
              <a:rPr lang="pt-BR" sz="1350">
                <a:solidFill>
                  <a:srgbClr val="171D28"/>
                </a:solidFill>
                <a:latin typeface="Calibri"/>
                <a:ea typeface="Calibri"/>
                <a:cs typeface="Calibri"/>
              </a:rPr>
              <a:t>Estado</a:t>
            </a:r>
            <a:r>
              <a:rPr sz="1350">
                <a:solidFill>
                  <a:srgbClr val="171D28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pt-BR" sz="1350">
                <a:solidFill>
                  <a:srgbClr val="171D28"/>
                </a:solidFill>
                <a:latin typeface="Calibri"/>
                <a:ea typeface="Calibri"/>
                <a:cs typeface="Calibri"/>
              </a:rPr>
              <a:t>heartbeat</a:t>
            </a:r>
            <a:r>
              <a:rPr sz="1350">
                <a:solidFill>
                  <a:srgbClr val="171D28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pt-BR" sz="1350">
                <a:solidFill>
                  <a:srgbClr val="171D28"/>
                </a:solidFill>
                <a:latin typeface="Calibri"/>
                <a:ea typeface="Calibri"/>
                <a:cs typeface="Calibri"/>
              </a:rPr>
              <a:t>diagnóstico e leitor preparados; comunicação física </a:t>
            </a:r>
            <a:r>
              <a:rPr sz="1350">
                <a:solidFill>
                  <a:srgbClr val="171D28"/>
                </a:solidFill>
                <a:latin typeface="Calibri"/>
                <a:ea typeface="Calibri"/>
                <a:cs typeface="Calibri"/>
              </a:rPr>
              <a:t>e </a:t>
            </a:r>
            <a:r>
              <a:rPr lang="pt-BR" sz="1350">
                <a:solidFill>
                  <a:srgbClr val="171D28"/>
                </a:solidFill>
                <a:latin typeface="Calibri"/>
                <a:ea typeface="Calibri"/>
                <a:cs typeface="Calibri"/>
              </a:rPr>
              <a:t>escritas bloqueadas por padrão</a:t>
            </a:r>
            <a:r>
              <a:rPr sz="1350">
                <a:solidFill>
                  <a:srgbClr val="171D28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17" name="Faixa final">
            <a:extLst>
              <a:ext uri="{FF2B5EF4-FFF2-40B4-BE49-F238E27FC236}">
                <a16:creationId xmlns:a16="http://schemas.microsoft.com/office/drawing/2014/main" id="{0B7B77B3-D126-4320-848C-A969B5B37C44}"/>
              </a:ext>
            </a:extLst>
          </p:cNvPr>
          <p:cNvSpPr>
            <a:spLocks noGrp="1"/>
          </p:cNvSpPr>
          <p:nvPr/>
        </p:nvSpPr>
        <p:spPr>
          <a:xfrm>
            <a:off x="2143125" y="5572125"/>
            <a:ext cx="7905750" cy="552450"/>
          </a:xfrm>
          <a:prstGeom prst="roundRect">
            <a:avLst>
              <a:gd name="adj" fmla="val 13793"/>
            </a:avLst>
          </a:prstGeom>
          <a:solidFill>
            <a:srgbClr val="E8F7EE"/>
          </a:solidFill>
          <a:ln w="9525">
            <a:solidFill>
              <a:srgbClr val="67D78F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8" name="Mensagem final">
            <a:extLst>
              <a:ext uri="{FF2B5EF4-FFF2-40B4-BE49-F238E27FC236}">
                <a16:creationId xmlns:a16="http://schemas.microsoft.com/office/drawing/2014/main" id="{7AB2D9A1-A4B8-4D4C-B050-71B4125E74F3}"/>
              </a:ext>
            </a:extLst>
          </p:cNvPr>
          <p:cNvSpPr>
            <a:spLocks noGrp="1"/>
          </p:cNvSpPr>
          <p:nvPr/>
        </p:nvSpPr>
        <p:spPr>
          <a:xfrm>
            <a:off x="2381250" y="5695950"/>
            <a:ext cx="7429500" cy="304800"/>
          </a:xfrm>
          <a:prstGeom prst="rect">
            <a:avLst/>
          </a:prstGeom>
          <a:noFill/>
          <a:ln w="0">
            <a:noFill/>
          </a:ln>
        </p:spPr>
        <p:txBody>
          <a:bodyPr wrap="square" anchor="ctr">
            <a:noAutofit/>
          </a:bodyPr>
          <a:lstStyle/>
          <a:p>
            <a:pPr>
              <a:defRPr sz="1350" b="1">
                <a:solidFill>
                  <a:srgbClr val="087B35"/>
                </a:solidFill>
                <a:latin typeface="Calibri"/>
                <a:ea typeface="Calibri"/>
                <a:cs typeface="Calibri"/>
              </a:defRPr>
            </a:pPr>
            <a:r>
              <a:rPr lang="pt-BR" sz="1350" b="1">
                <a:solidFill>
                  <a:srgbClr val="087B35"/>
                </a:solidFill>
                <a:latin typeface="Calibri"/>
                <a:ea typeface="Calibri"/>
                <a:cs typeface="Calibri"/>
              </a:rPr>
              <a:t>CLP-Simulator externo integrado para validar Modbus TCP sem atuar na máquina real.</a:t>
            </a:r>
            <a:endParaRPr sz="1350" b="1">
              <a:solidFill>
                <a:srgbClr val="087B35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580674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m 18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588329E3-85C3-41E1-9ECD-6F3903EBCD13}"/>
              </a:ext>
            </a:extLst>
          </p:cNvPr>
          <p:cNvSpPr>
            <a:spLocks noGrp="1"/>
          </p:cNvSpPr>
          <p:nvPr/>
        </p:nvSpPr>
        <p:spPr>
          <a:xfrm>
            <a:off x="723900" y="171450"/>
            <a:ext cx="10572750" cy="61722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127CB344-780B-4534-B45C-B242ACF3D048}"/>
              </a:ext>
            </a:extLst>
          </p:cNvPr>
          <p:cNvSpPr>
            <a:spLocks noGrp="1"/>
          </p:cNvSpPr>
          <p:nvPr/>
        </p:nvSpPr>
        <p:spPr>
          <a:xfrm>
            <a:off x="914400" y="266700"/>
            <a:ext cx="9906000" cy="523875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rmAutofit fontScale="99561"/>
          </a:bodyPr>
          <a:lstStyle/>
          <a:p>
            <a:pPr>
              <a:buNone/>
              <a:defRPr sz="2850" b="1">
                <a:solidFill>
                  <a:srgbClr val="092C61"/>
                </a:solidFill>
                <a:latin typeface="Calibri"/>
                <a:ea typeface="Calibri"/>
                <a:cs typeface="Calibri"/>
              </a:defRPr>
            </a:pPr>
            <a:r>
              <a:rPr lang="pt-BR" sz="2850" b="1">
                <a:solidFill>
                  <a:srgbClr val="092C61"/>
                </a:solidFill>
                <a:latin typeface="Calibri"/>
                <a:ea typeface="Calibri"/>
                <a:cs typeface="Calibri"/>
              </a:rPr>
              <a:t>Validação ponta a ponta em andamento</a:t>
            </a:r>
            <a:endParaRPr sz="2850" b="1">
              <a:solidFill>
                <a:srgbClr val="092C6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AC7B90E4-752F-4C01-92A7-5B66263CE414}"/>
              </a:ext>
            </a:extLst>
          </p:cNvPr>
          <p:cNvSpPr>
            <a:spLocks noGrp="1"/>
          </p:cNvSpPr>
          <p:nvPr/>
        </p:nvSpPr>
        <p:spPr>
          <a:xfrm>
            <a:off x="914400" y="866775"/>
            <a:ext cx="781050" cy="47625"/>
          </a:xfrm>
          <a:prstGeom prst="rect">
            <a:avLst/>
          </a:prstGeom>
          <a:solidFill>
            <a:srgbClr val="06B945"/>
          </a:solidFill>
          <a:ln w="0">
            <a:solidFill>
              <a:srgbClr val="06B945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A8E9256F-DEB5-4EC5-A428-145DE7BFC842}"/>
              </a:ext>
            </a:extLst>
          </p:cNvPr>
          <p:cNvSpPr>
            <a:spLocks noGrp="1"/>
          </p:cNvSpPr>
          <p:nvPr/>
        </p:nvSpPr>
        <p:spPr>
          <a:xfrm>
            <a:off x="1047750" y="1238250"/>
            <a:ext cx="523875" cy="523875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rmAutofit/>
          </a:bodyPr>
          <a:lstStyle/>
          <a:p>
            <a:pPr algn="ctr">
              <a:buNone/>
              <a:defRPr sz="2550" b="1">
                <a:solidFill>
                  <a:srgbClr val="06B945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B945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EE993FCF-2654-4B9B-A88B-18941281BD71}"/>
              </a:ext>
            </a:extLst>
          </p:cNvPr>
          <p:cNvSpPr>
            <a:spLocks noGrp="1"/>
          </p:cNvSpPr>
          <p:nvPr/>
        </p:nvSpPr>
        <p:spPr>
          <a:xfrm>
            <a:off x="1762125" y="1238250"/>
            <a:ext cx="3333750" cy="36195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rmAutofit/>
          </a:bodyPr>
          <a:lstStyle/>
          <a:p>
            <a:pPr>
              <a:buNone/>
              <a:defRPr sz="1725" b="1">
                <a:solidFill>
                  <a:srgbClr val="092C61"/>
                </a:solidFill>
                <a:latin typeface="Calibri"/>
                <a:ea typeface="Calibri"/>
                <a:cs typeface="Calibri"/>
              </a:defRPr>
            </a:pPr>
            <a:r>
              <a:rPr lang="pt-BR" sz="1725" b="1">
                <a:solidFill>
                  <a:srgbClr val="092C61"/>
                </a:solidFill>
                <a:latin typeface="Calibri"/>
                <a:ea typeface="Calibri"/>
                <a:cs typeface="Calibri"/>
              </a:rPr>
              <a:t>Caminho em validação</a:t>
            </a:r>
            <a:endParaRPr sz="1725" b="1">
              <a:solidFill>
                <a:srgbClr val="092C6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1BFBC101-D9AE-4C81-83C0-B24185821519}"/>
              </a:ext>
            </a:extLst>
          </p:cNvPr>
          <p:cNvSpPr>
            <a:spLocks noGrp="1"/>
          </p:cNvSpPr>
          <p:nvPr/>
        </p:nvSpPr>
        <p:spPr>
          <a:xfrm>
            <a:off x="5143500" y="1238250"/>
            <a:ext cx="5715000" cy="523875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rmAutofit fontScale="94583"/>
          </a:bodyPr>
          <a:lstStyle/>
          <a:p>
            <a:pPr>
              <a:buNone/>
              <a:defRPr sz="1500">
                <a:solidFill>
                  <a:srgbClr val="111827"/>
                </a:solidFill>
                <a:latin typeface="Calibri"/>
                <a:ea typeface="Calibri"/>
                <a:cs typeface="Calibri"/>
              </a:defRPr>
            </a:pPr>
            <a:r>
              <a:rPr lang="pt-BR" sz="1500">
                <a:solidFill>
                  <a:srgbClr val="111827"/>
                </a:solidFill>
                <a:latin typeface="Calibri"/>
                <a:ea typeface="Calibri"/>
                <a:cs typeface="Calibri"/>
              </a:rPr>
              <a:t>Paulo e Ádrio: CLP-Simulator → Modbus TCP → backend → Manutenção </a:t>
            </a:r>
            <a:r>
              <a:rPr sz="1500">
                <a:solidFill>
                  <a:srgbClr val="111827"/>
                </a:solidFill>
                <a:latin typeface="Calibri"/>
                <a:ea typeface="Calibri"/>
                <a:cs typeface="Calibri"/>
              </a:rPr>
              <a:t>e </a:t>
            </a:r>
            <a:r>
              <a:rPr lang="pt-BR" sz="1500">
                <a:solidFill>
                  <a:srgbClr val="111827"/>
                </a:solidFill>
                <a:latin typeface="Calibri"/>
                <a:ea typeface="Calibri"/>
                <a:cs typeface="Calibri"/>
              </a:rPr>
              <a:t>Diagnóstico</a:t>
            </a:r>
            <a:r>
              <a:rPr sz="1500">
                <a:solidFill>
                  <a:srgbClr val="111827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CDB12C05-B6A6-41CA-B5F3-E084E9DB603E}"/>
              </a:ext>
            </a:extLst>
          </p:cNvPr>
          <p:cNvSpPr>
            <a:spLocks noGrp="1"/>
          </p:cNvSpPr>
          <p:nvPr/>
        </p:nvSpPr>
        <p:spPr>
          <a:xfrm>
            <a:off x="1047750" y="2305050"/>
            <a:ext cx="523875" cy="523875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rmAutofit/>
          </a:bodyPr>
          <a:lstStyle/>
          <a:p>
            <a:pPr algn="ctr">
              <a:buNone/>
              <a:defRPr sz="2550" b="1">
                <a:solidFill>
                  <a:srgbClr val="06B945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B945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4C35BD70-7E94-4F71-B586-A01E259697B9}"/>
              </a:ext>
            </a:extLst>
          </p:cNvPr>
          <p:cNvSpPr>
            <a:spLocks noGrp="1"/>
          </p:cNvSpPr>
          <p:nvPr/>
        </p:nvSpPr>
        <p:spPr>
          <a:xfrm>
            <a:off x="1762125" y="2305050"/>
            <a:ext cx="3333750" cy="36195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rmAutofit/>
          </a:bodyPr>
          <a:lstStyle/>
          <a:p>
            <a:pPr>
              <a:buNone/>
              <a:defRPr sz="1725" b="1">
                <a:solidFill>
                  <a:srgbClr val="092C61"/>
                </a:solidFill>
                <a:latin typeface="Calibri"/>
                <a:ea typeface="Calibri"/>
                <a:cs typeface="Calibri"/>
              </a:defRPr>
            </a:pPr>
            <a:r>
              <a:rPr lang="pt-BR" sz="1725" b="1">
                <a:solidFill>
                  <a:srgbClr val="092C61"/>
                </a:solidFill>
                <a:latin typeface="Calibri"/>
                <a:ea typeface="Calibri"/>
                <a:cs typeface="Calibri"/>
              </a:rPr>
              <a:t>Leitura Modbus</a:t>
            </a:r>
            <a:endParaRPr sz="1725" b="1">
              <a:solidFill>
                <a:srgbClr val="092C6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4D950FC0-CB60-41CF-9DEE-5517CF8998C7}"/>
              </a:ext>
            </a:extLst>
          </p:cNvPr>
          <p:cNvSpPr>
            <a:spLocks noGrp="1"/>
          </p:cNvSpPr>
          <p:nvPr/>
        </p:nvSpPr>
        <p:spPr>
          <a:xfrm>
            <a:off x="5143500" y="2305050"/>
            <a:ext cx="5715000" cy="523875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rmAutofit fontScale="94583"/>
          </a:bodyPr>
          <a:lstStyle/>
          <a:p>
            <a:pPr>
              <a:buNone/>
              <a:defRPr sz="1500">
                <a:solidFill>
                  <a:srgbClr val="111827"/>
                </a:solidFill>
                <a:latin typeface="Calibri"/>
                <a:ea typeface="Calibri"/>
                <a:cs typeface="Calibri"/>
              </a:defRPr>
            </a:pPr>
            <a:r>
              <a:rPr lang="pt-BR" sz="1500">
                <a:solidFill>
                  <a:srgbClr val="111827"/>
                </a:solidFill>
                <a:latin typeface="Calibri"/>
                <a:ea typeface="Calibri"/>
                <a:cs typeface="Calibri"/>
              </a:rPr>
              <a:t>Conexão TCP</a:t>
            </a:r>
            <a:r>
              <a:rPr sz="1500">
                <a:solidFill>
                  <a:srgbClr val="111827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pt-BR" sz="1500">
                <a:solidFill>
                  <a:srgbClr val="111827"/>
                </a:solidFill>
                <a:latin typeface="Calibri"/>
                <a:ea typeface="Calibri"/>
                <a:cs typeface="Calibri"/>
              </a:rPr>
              <a:t>Unit ID 1</a:t>
            </a:r>
            <a:r>
              <a:rPr sz="1500">
                <a:solidFill>
                  <a:srgbClr val="111827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pt-BR" sz="1500">
                <a:solidFill>
                  <a:srgbClr val="111827"/>
                </a:solidFill>
                <a:latin typeface="Calibri"/>
                <a:ea typeface="Calibri"/>
                <a:cs typeface="Calibri"/>
              </a:rPr>
              <a:t>D750–D779 </a:t>
            </a:r>
            <a:r>
              <a:rPr sz="1500">
                <a:solidFill>
                  <a:srgbClr val="111827"/>
                </a:solidFill>
                <a:latin typeface="Calibri"/>
                <a:ea typeface="Calibri"/>
                <a:cs typeface="Calibri"/>
              </a:rPr>
              <a:t>e </a:t>
            </a:r>
            <a:r>
              <a:rPr lang="pt-BR" sz="1500">
                <a:solidFill>
                  <a:srgbClr val="111827"/>
                </a:solidFill>
                <a:latin typeface="Calibri"/>
                <a:ea typeface="Calibri"/>
                <a:cs typeface="Calibri"/>
              </a:rPr>
              <a:t>D800–D879</a:t>
            </a:r>
            <a:r>
              <a:rPr sz="1500">
                <a:solidFill>
                  <a:srgbClr val="111827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2271EDEB-3CDE-425B-B43C-5EEEE9706A5C}"/>
              </a:ext>
            </a:extLst>
          </p:cNvPr>
          <p:cNvSpPr>
            <a:spLocks noGrp="1"/>
          </p:cNvSpPr>
          <p:nvPr/>
        </p:nvSpPr>
        <p:spPr>
          <a:xfrm>
            <a:off x="1047750" y="3371850"/>
            <a:ext cx="523875" cy="523875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rmAutofit/>
          </a:bodyPr>
          <a:lstStyle/>
          <a:p>
            <a:pPr algn="ctr">
              <a:buNone/>
              <a:defRPr sz="2550" b="1">
                <a:solidFill>
                  <a:srgbClr val="06B945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B945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65B22B69-EA4B-4852-BD9C-3AB35976491F}"/>
              </a:ext>
            </a:extLst>
          </p:cNvPr>
          <p:cNvSpPr>
            <a:spLocks noGrp="1"/>
          </p:cNvSpPr>
          <p:nvPr/>
        </p:nvSpPr>
        <p:spPr>
          <a:xfrm>
            <a:off x="1762125" y="3371850"/>
            <a:ext cx="3333750" cy="36195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rmAutofit/>
          </a:bodyPr>
          <a:lstStyle/>
          <a:p>
            <a:pPr>
              <a:buNone/>
              <a:defRPr sz="1725" b="1">
                <a:solidFill>
                  <a:srgbClr val="092C61"/>
                </a:solidFill>
                <a:latin typeface="Calibri"/>
                <a:ea typeface="Calibri"/>
                <a:cs typeface="Calibri"/>
              </a:defRPr>
            </a:pPr>
            <a:r>
              <a:rPr lang="pt-BR" sz="1725" b="1">
                <a:solidFill>
                  <a:srgbClr val="092C61"/>
                </a:solidFill>
                <a:latin typeface="Calibri"/>
                <a:ea typeface="Calibri"/>
                <a:cs typeface="Calibri"/>
              </a:rPr>
              <a:t>Estado do protocolo</a:t>
            </a:r>
            <a:endParaRPr sz="1725" b="1">
              <a:solidFill>
                <a:srgbClr val="092C6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2A3FE523-4F8A-42D9-BE6D-F0E89766744F}"/>
              </a:ext>
            </a:extLst>
          </p:cNvPr>
          <p:cNvSpPr>
            <a:spLocks noGrp="1"/>
          </p:cNvSpPr>
          <p:nvPr/>
        </p:nvSpPr>
        <p:spPr>
          <a:xfrm>
            <a:off x="5143500" y="3371850"/>
            <a:ext cx="5715000" cy="523875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rmAutofit fontScale="94583"/>
          </a:bodyPr>
          <a:lstStyle/>
          <a:p>
            <a:pPr>
              <a:buNone/>
              <a:defRPr sz="1500">
                <a:solidFill>
                  <a:srgbClr val="111827"/>
                </a:solidFill>
                <a:latin typeface="Calibri"/>
                <a:ea typeface="Calibri"/>
                <a:cs typeface="Calibri"/>
              </a:defRPr>
            </a:pPr>
            <a:r>
              <a:rPr lang="pt-BR" sz="1500">
                <a:solidFill>
                  <a:srgbClr val="111827"/>
                </a:solidFill>
                <a:latin typeface="Calibri"/>
                <a:ea typeface="Calibri"/>
                <a:cs typeface="Calibri"/>
              </a:rPr>
              <a:t>Rev.02</a:t>
            </a:r>
            <a:r>
              <a:rPr sz="1500">
                <a:solidFill>
                  <a:srgbClr val="111827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pt-BR" sz="1500">
                <a:solidFill>
                  <a:srgbClr val="111827"/>
                </a:solidFill>
                <a:latin typeface="Calibri"/>
                <a:ea typeface="Calibri"/>
                <a:cs typeface="Calibri"/>
              </a:rPr>
              <a:t>Ladder Rev.04</a:t>
            </a:r>
            <a:r>
              <a:rPr sz="1500">
                <a:solidFill>
                  <a:srgbClr val="111827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pt-BR" sz="1500">
                <a:solidFill>
                  <a:srgbClr val="111827"/>
                </a:solidFill>
                <a:latin typeface="Calibri"/>
                <a:ea typeface="Calibri"/>
                <a:cs typeface="Calibri"/>
              </a:rPr>
              <a:t>heartbeat</a:t>
            </a:r>
            <a:r>
              <a:rPr sz="1500">
                <a:solidFill>
                  <a:srgbClr val="111827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pt-BR" sz="1500">
                <a:solidFill>
                  <a:srgbClr val="111827"/>
                </a:solidFill>
                <a:latin typeface="Calibri"/>
                <a:ea typeface="Calibri"/>
                <a:cs typeface="Calibri"/>
              </a:rPr>
              <a:t>READY </a:t>
            </a:r>
            <a:r>
              <a:rPr sz="1500">
                <a:solidFill>
                  <a:srgbClr val="111827"/>
                </a:solidFill>
                <a:latin typeface="Calibri"/>
                <a:ea typeface="Calibri"/>
                <a:cs typeface="Calibri"/>
              </a:rPr>
              <a:t>e </a:t>
            </a:r>
            <a:r>
              <a:rPr lang="pt-BR" sz="1500">
                <a:solidFill>
                  <a:srgbClr val="111827"/>
                </a:solidFill>
                <a:latin typeface="Calibri"/>
                <a:ea typeface="Calibri"/>
                <a:cs typeface="Calibri"/>
              </a:rPr>
              <a:t>capacidades em D777</a:t>
            </a:r>
            <a:r>
              <a:rPr sz="1500">
                <a:solidFill>
                  <a:srgbClr val="111827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DB20A213-37B4-4EA5-AC24-152C04B95D9B}"/>
              </a:ext>
            </a:extLst>
          </p:cNvPr>
          <p:cNvSpPr>
            <a:spLocks noGrp="1"/>
          </p:cNvSpPr>
          <p:nvPr/>
        </p:nvSpPr>
        <p:spPr>
          <a:xfrm>
            <a:off x="1047750" y="4438650"/>
            <a:ext cx="523875" cy="523875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rmAutofit/>
          </a:bodyPr>
          <a:lstStyle/>
          <a:p>
            <a:pPr algn="ctr">
              <a:buNone/>
              <a:defRPr sz="2550" b="1">
                <a:solidFill>
                  <a:srgbClr val="06B945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B945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1030F9BE-8C06-40E2-A174-800938D0EF20}"/>
              </a:ext>
            </a:extLst>
          </p:cNvPr>
          <p:cNvSpPr>
            <a:spLocks noGrp="1"/>
          </p:cNvSpPr>
          <p:nvPr/>
        </p:nvSpPr>
        <p:spPr>
          <a:xfrm>
            <a:off x="1762125" y="4438650"/>
            <a:ext cx="3333750" cy="36195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rmAutofit/>
          </a:bodyPr>
          <a:lstStyle/>
          <a:p>
            <a:pPr>
              <a:buNone/>
              <a:defRPr sz="1725" b="1">
                <a:solidFill>
                  <a:srgbClr val="092C61"/>
                </a:solidFill>
                <a:latin typeface="Calibri"/>
                <a:ea typeface="Calibri"/>
                <a:cs typeface="Calibri"/>
              </a:defRPr>
            </a:pPr>
            <a:r>
              <a:rPr lang="pt-BR" sz="1725" b="1">
                <a:solidFill>
                  <a:srgbClr val="092C61"/>
                </a:solidFill>
                <a:latin typeface="Calibri"/>
                <a:ea typeface="Calibri"/>
                <a:cs typeface="Calibri"/>
              </a:rPr>
              <a:t>Dados do SR-1000</a:t>
            </a:r>
            <a:endParaRPr sz="1725" b="1">
              <a:solidFill>
                <a:srgbClr val="092C6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8FD2F3E9-051B-4179-982E-1489835A9C69}"/>
              </a:ext>
            </a:extLst>
          </p:cNvPr>
          <p:cNvSpPr>
            <a:spLocks noGrp="1"/>
          </p:cNvSpPr>
          <p:nvPr/>
        </p:nvSpPr>
        <p:spPr>
          <a:xfrm>
            <a:off x="5143500" y="4438650"/>
            <a:ext cx="5715000" cy="523875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rmAutofit fontScale="94583"/>
          </a:bodyPr>
          <a:lstStyle/>
          <a:p>
            <a:pPr>
              <a:buNone/>
              <a:defRPr sz="1500">
                <a:solidFill>
                  <a:srgbClr val="111827"/>
                </a:solidFill>
                <a:latin typeface="Calibri"/>
                <a:ea typeface="Calibri"/>
                <a:cs typeface="Calibri"/>
              </a:defRPr>
            </a:pPr>
            <a:r>
              <a:rPr lang="pt-BR" sz="1500">
                <a:solidFill>
                  <a:srgbClr val="111827"/>
                </a:solidFill>
                <a:latin typeface="Calibri"/>
                <a:ea typeface="Calibri"/>
                <a:cs typeface="Calibri"/>
              </a:rPr>
              <a:t>Resultado, serial, EAN, OP, modelo, conteúdo bruto, offset </a:t>
            </a:r>
            <a:r>
              <a:rPr sz="1500">
                <a:solidFill>
                  <a:srgbClr val="111827"/>
                </a:solidFill>
                <a:latin typeface="Calibri"/>
                <a:ea typeface="Calibri"/>
                <a:cs typeface="Calibri"/>
              </a:rPr>
              <a:t>e </a:t>
            </a:r>
            <a:r>
              <a:rPr lang="pt-BR" sz="1500">
                <a:solidFill>
                  <a:srgbClr val="111827"/>
                </a:solidFill>
                <a:latin typeface="Calibri"/>
                <a:ea typeface="Calibri"/>
                <a:cs typeface="Calibri"/>
              </a:rPr>
              <a:t>byte order</a:t>
            </a:r>
            <a:r>
              <a:rPr sz="1500">
                <a:solidFill>
                  <a:srgbClr val="111827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38D0389E-FCA3-4B7E-8480-1D03A1120545}"/>
              </a:ext>
            </a:extLst>
          </p:cNvPr>
          <p:cNvSpPr>
            <a:spLocks noGrp="1"/>
          </p:cNvSpPr>
          <p:nvPr/>
        </p:nvSpPr>
        <p:spPr>
          <a:xfrm>
            <a:off x="2143125" y="5572125"/>
            <a:ext cx="7905750" cy="552450"/>
          </a:xfrm>
          <a:prstGeom prst="roundRect">
            <a:avLst>
              <a:gd name="adj" fmla="val 24138"/>
            </a:avLst>
          </a:prstGeom>
          <a:solidFill>
            <a:srgbClr val="E9F8EE"/>
          </a:solidFill>
          <a:ln w="11430">
            <a:solidFill>
              <a:srgbClr val="82D39C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53833A4B-0748-4BDB-8B6E-0F29E687AC63}"/>
              </a:ext>
            </a:extLst>
          </p:cNvPr>
          <p:cNvSpPr>
            <a:spLocks noGrp="1"/>
          </p:cNvSpPr>
          <p:nvPr/>
        </p:nvSpPr>
        <p:spPr>
          <a:xfrm>
            <a:off x="2381250" y="5695950"/>
            <a:ext cx="7429500" cy="3048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rmAutofit fontScale="92348" lnSpcReduction="10000"/>
          </a:bodyPr>
          <a:lstStyle/>
          <a:p>
            <a:pPr algn="ctr">
              <a:buNone/>
              <a:defRPr sz="1650" b="1">
                <a:solidFill>
                  <a:srgbClr val="087A35"/>
                </a:solidFill>
                <a:latin typeface="Calibri"/>
                <a:ea typeface="Calibri"/>
                <a:cs typeface="Calibri"/>
              </a:defRPr>
            </a:pPr>
            <a:r>
              <a:rPr lang="pt-BR" sz="1650" b="1">
                <a:solidFill>
                  <a:srgbClr val="087A35"/>
                </a:solidFill>
                <a:latin typeface="Calibri"/>
                <a:ea typeface="Calibri"/>
                <a:cs typeface="Calibri"/>
              </a:rPr>
              <a:t>Resultado esperado</a:t>
            </a:r>
            <a:r>
              <a:rPr sz="1650" b="1">
                <a:solidFill>
                  <a:srgbClr val="087A35"/>
                </a:solidFill>
                <a:latin typeface="Calibri"/>
                <a:ea typeface="Calibri"/>
                <a:cs typeface="Calibri"/>
              </a:rPr>
              <a:t>: </a:t>
            </a:r>
            <a:r>
              <a:rPr lang="pt-BR" sz="1650" b="1">
                <a:solidFill>
                  <a:srgbClr val="087A35"/>
                </a:solidFill>
                <a:latin typeface="Calibri"/>
                <a:ea typeface="Calibri"/>
                <a:cs typeface="Calibri"/>
              </a:rPr>
              <a:t>READ_REV02_SNAPSHOT_OK</a:t>
            </a:r>
            <a:endParaRPr sz="1650" b="1">
              <a:solidFill>
                <a:srgbClr val="087A35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07849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9" name="Retângulo 1">
            <a:extLst>
              <a:ext uri="{FF2B5EF4-FFF2-40B4-BE49-F238E27FC236}">
                <a16:creationId xmlns:a16="http://schemas.microsoft.com/office/drawing/2014/main" id="{588329E3-85C3-41E1-9ECD-6F3903EBCD13}"/>
              </a:ext>
            </a:extLst>
          </p:cNvPr>
          <p:cNvSpPr>
            <a:spLocks noGrp="1"/>
          </p:cNvSpPr>
          <p:nvPr/>
        </p:nvSpPr>
        <p:spPr>
          <a:xfrm>
            <a:off x="723900" y="171450"/>
            <a:ext cx="10572750" cy="61722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127CB344-780B-4534-B45C-B242ACF3D048}"/>
              </a:ext>
            </a:extLst>
          </p:cNvPr>
          <p:cNvSpPr>
            <a:spLocks noGrp="1"/>
          </p:cNvSpPr>
          <p:nvPr/>
        </p:nvSpPr>
        <p:spPr>
          <a:xfrm>
            <a:off x="914400" y="266700"/>
            <a:ext cx="9906000" cy="523875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rmAutofit fontScale="99561"/>
          </a:bodyPr>
          <a:lstStyle/>
          <a:p>
            <a:pPr>
              <a:buNone/>
              <a:defRPr sz="2850" b="1">
                <a:solidFill>
                  <a:srgbClr val="092C61"/>
                </a:solidFill>
                <a:latin typeface="Calibri"/>
                <a:ea typeface="Calibri"/>
                <a:cs typeface="Calibri"/>
              </a:defRPr>
            </a:pPr>
            <a:r>
              <a:rPr sz="2850" b="1">
                <a:solidFill>
                  <a:srgbClr val="092C61"/>
                </a:solidFill>
                <a:latin typeface="Calibri"/>
                <a:ea typeface="Calibri"/>
                <a:cs typeface="Calibri"/>
              </a:rPr>
              <a:t>Próximos passos até domingo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AC7B90E4-752F-4C01-92A7-5B66263CE414}"/>
              </a:ext>
            </a:extLst>
          </p:cNvPr>
          <p:cNvSpPr>
            <a:spLocks noGrp="1"/>
          </p:cNvSpPr>
          <p:nvPr/>
        </p:nvSpPr>
        <p:spPr>
          <a:xfrm>
            <a:off x="914400" y="866775"/>
            <a:ext cx="781050" cy="47625"/>
          </a:xfrm>
          <a:prstGeom prst="rect">
            <a:avLst/>
          </a:prstGeom>
          <a:solidFill>
            <a:srgbClr val="06B945"/>
          </a:solidFill>
          <a:ln w="0">
            <a:solidFill>
              <a:srgbClr val="06B945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A8E9256F-DEB5-4EC5-A428-145DE7BFC842}"/>
              </a:ext>
            </a:extLst>
          </p:cNvPr>
          <p:cNvSpPr>
            <a:spLocks noGrp="1"/>
          </p:cNvSpPr>
          <p:nvPr/>
        </p:nvSpPr>
        <p:spPr>
          <a:xfrm>
            <a:off x="1047750" y="1238250"/>
            <a:ext cx="523875" cy="523875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rmAutofit/>
          </a:bodyPr>
          <a:lstStyle/>
          <a:p>
            <a:pPr algn="ctr">
              <a:buNone/>
              <a:defRPr sz="2550" b="1">
                <a:solidFill>
                  <a:srgbClr val="06B945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B945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EE993FCF-2654-4B9B-A88B-18941281BD71}"/>
              </a:ext>
            </a:extLst>
          </p:cNvPr>
          <p:cNvSpPr>
            <a:spLocks noGrp="1"/>
          </p:cNvSpPr>
          <p:nvPr/>
        </p:nvSpPr>
        <p:spPr>
          <a:xfrm>
            <a:off x="1762125" y="1238250"/>
            <a:ext cx="3333750" cy="36195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rmAutofit/>
          </a:bodyPr>
          <a:lstStyle/>
          <a:p>
            <a:pPr>
              <a:buNone/>
              <a:defRPr sz="1725" b="1">
                <a:solidFill>
                  <a:srgbClr val="092C61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092C61"/>
                </a:solidFill>
                <a:latin typeface="Calibri"/>
                <a:ea typeface="Calibri"/>
                <a:cs typeface="Calibri"/>
              </a:rPr>
              <a:t>Evidências e campos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1BFBC101-D9AE-4C81-83C0-B24185821519}"/>
              </a:ext>
            </a:extLst>
          </p:cNvPr>
          <p:cNvSpPr>
            <a:spLocks noGrp="1"/>
          </p:cNvSpPr>
          <p:nvPr/>
        </p:nvSpPr>
        <p:spPr>
          <a:xfrm>
            <a:off x="5143500" y="1238250"/>
            <a:ext cx="5715000" cy="523875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rmAutofit fontScale="94583"/>
          </a:bodyPr>
          <a:lstStyle/>
          <a:p>
            <a:pPr>
              <a:buNone/>
              <a:defRPr sz="1500">
                <a:solidFill>
                  <a:srgbClr val="111827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111827"/>
                </a:solidFill>
                <a:latin typeface="Calibri"/>
                <a:ea typeface="Calibri"/>
                <a:cs typeface="Calibri"/>
              </a:rPr>
              <a:t>Concluir o teste integrado e validar todos os campos simulados do SR-1000.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CDB12C05-B6A6-41CA-B5F3-E084E9DB603E}"/>
              </a:ext>
            </a:extLst>
          </p:cNvPr>
          <p:cNvSpPr>
            <a:spLocks noGrp="1"/>
          </p:cNvSpPr>
          <p:nvPr/>
        </p:nvSpPr>
        <p:spPr>
          <a:xfrm>
            <a:off x="1047750" y="2305050"/>
            <a:ext cx="523875" cy="523875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rmAutofit/>
          </a:bodyPr>
          <a:lstStyle/>
          <a:p>
            <a:pPr algn="ctr">
              <a:buNone/>
              <a:defRPr sz="2550" b="1">
                <a:solidFill>
                  <a:srgbClr val="06B945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B945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4C35BD70-7E94-4F71-B586-A01E259697B9}"/>
              </a:ext>
            </a:extLst>
          </p:cNvPr>
          <p:cNvSpPr>
            <a:spLocks noGrp="1"/>
          </p:cNvSpPr>
          <p:nvPr/>
        </p:nvSpPr>
        <p:spPr>
          <a:xfrm>
            <a:off x="1762125" y="2305050"/>
            <a:ext cx="3333750" cy="36195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rmAutofit/>
          </a:bodyPr>
          <a:lstStyle/>
          <a:p>
            <a:pPr>
              <a:buNone/>
              <a:defRPr sz="1725" b="1">
                <a:solidFill>
                  <a:srgbClr val="092C61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092C61"/>
                </a:solidFill>
                <a:latin typeface="Calibri"/>
                <a:ea typeface="Calibri"/>
                <a:cs typeface="Calibri"/>
              </a:rPr>
              <a:t>Resiliência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4D950FC0-CB60-41CF-9DEE-5517CF8998C7}"/>
              </a:ext>
            </a:extLst>
          </p:cNvPr>
          <p:cNvSpPr>
            <a:spLocks noGrp="1"/>
          </p:cNvSpPr>
          <p:nvPr/>
        </p:nvSpPr>
        <p:spPr>
          <a:xfrm>
            <a:off x="5143500" y="2305050"/>
            <a:ext cx="5715000" cy="523875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rmAutofit fontScale="94583"/>
          </a:bodyPr>
          <a:lstStyle/>
          <a:p>
            <a:pPr>
              <a:buNone/>
              <a:defRPr sz="1500">
                <a:solidFill>
                  <a:srgbClr val="111827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111827"/>
                </a:solidFill>
                <a:latin typeface="Calibri"/>
                <a:ea typeface="Calibri"/>
                <a:cs typeface="Calibri"/>
              </a:rPr>
              <a:t>Testar desconexão, timeout, reconexão, reinício, duplicidade e NO READ.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2271EDEB-3CDE-425B-B43C-5EEEE9706A5C}"/>
              </a:ext>
            </a:extLst>
          </p:cNvPr>
          <p:cNvSpPr>
            <a:spLocks noGrp="1"/>
          </p:cNvSpPr>
          <p:nvPr/>
        </p:nvSpPr>
        <p:spPr>
          <a:xfrm>
            <a:off x="1047750" y="3371850"/>
            <a:ext cx="523875" cy="523875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rmAutofit/>
          </a:bodyPr>
          <a:lstStyle/>
          <a:p>
            <a:pPr algn="ctr">
              <a:buNone/>
              <a:defRPr sz="2550" b="1">
                <a:solidFill>
                  <a:srgbClr val="06B945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B945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65B22B69-EA4B-4852-BD9C-3AB35976491F}"/>
              </a:ext>
            </a:extLst>
          </p:cNvPr>
          <p:cNvSpPr>
            <a:spLocks noGrp="1"/>
          </p:cNvSpPr>
          <p:nvPr/>
        </p:nvSpPr>
        <p:spPr>
          <a:xfrm>
            <a:off x="1762125" y="3371850"/>
            <a:ext cx="3333750" cy="36195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rmAutofit/>
          </a:bodyPr>
          <a:lstStyle/>
          <a:p>
            <a:pPr>
              <a:buNone/>
              <a:defRPr sz="1725" b="1">
                <a:solidFill>
                  <a:srgbClr val="092C61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092C61"/>
                </a:solidFill>
                <a:latin typeface="Calibri"/>
                <a:ea typeface="Calibri"/>
                <a:cs typeface="Calibri"/>
              </a:rPr>
              <a:t>Diagnóstico e documentação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2A3FE523-4F8A-42D9-BE6D-F0E89766744F}"/>
              </a:ext>
            </a:extLst>
          </p:cNvPr>
          <p:cNvSpPr>
            <a:spLocks noGrp="1"/>
          </p:cNvSpPr>
          <p:nvPr/>
        </p:nvSpPr>
        <p:spPr>
          <a:xfrm>
            <a:off x="5143500" y="3371850"/>
            <a:ext cx="5715000" cy="523875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rmAutofit fontScale="94583"/>
          </a:bodyPr>
          <a:lstStyle/>
          <a:p>
            <a:pPr>
              <a:buNone/>
              <a:defRPr sz="1500">
                <a:solidFill>
                  <a:srgbClr val="111827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111827"/>
                </a:solidFill>
                <a:latin typeface="Calibri"/>
                <a:ea typeface="Calibri"/>
                <a:cs typeface="Calibri"/>
              </a:rPr>
              <a:t>Revisar logs; documentar a integração; alinhar o limite de 64 bytes em D847–D878.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DB20A213-37B4-4EA5-AC24-152C04B95D9B}"/>
              </a:ext>
            </a:extLst>
          </p:cNvPr>
          <p:cNvSpPr>
            <a:spLocks noGrp="1"/>
          </p:cNvSpPr>
          <p:nvPr/>
        </p:nvSpPr>
        <p:spPr>
          <a:xfrm>
            <a:off x="1047750" y="4438650"/>
            <a:ext cx="523875" cy="523875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rmAutofit/>
          </a:bodyPr>
          <a:lstStyle/>
          <a:p>
            <a:pPr algn="ctr">
              <a:buNone/>
              <a:defRPr sz="2550" b="1">
                <a:solidFill>
                  <a:srgbClr val="06B945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B945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1030F9BE-8C06-40E2-A174-800938D0EF20}"/>
              </a:ext>
            </a:extLst>
          </p:cNvPr>
          <p:cNvSpPr>
            <a:spLocks noGrp="1"/>
          </p:cNvSpPr>
          <p:nvPr/>
        </p:nvSpPr>
        <p:spPr>
          <a:xfrm>
            <a:off x="1762125" y="4438650"/>
            <a:ext cx="3333750" cy="36195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rmAutofit/>
          </a:bodyPr>
          <a:lstStyle/>
          <a:p>
            <a:pPr>
              <a:buNone/>
              <a:defRPr sz="1725" b="1">
                <a:solidFill>
                  <a:srgbClr val="092C61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092C61"/>
                </a:solidFill>
                <a:latin typeface="Calibri"/>
                <a:ea typeface="Calibri"/>
                <a:cs typeface="Calibri"/>
              </a:rPr>
              <a:t>Primeiro teste real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8FD2F3E9-051B-4179-982E-1489835A9C69}"/>
              </a:ext>
            </a:extLst>
          </p:cNvPr>
          <p:cNvSpPr>
            <a:spLocks noGrp="1"/>
          </p:cNvSpPr>
          <p:nvPr/>
        </p:nvSpPr>
        <p:spPr>
          <a:xfrm>
            <a:off x="5143500" y="4438650"/>
            <a:ext cx="5715000" cy="523875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rmAutofit fontScale="94583"/>
          </a:bodyPr>
          <a:lstStyle/>
          <a:p>
            <a:pPr>
              <a:buNone/>
              <a:defRPr sz="1500">
                <a:solidFill>
                  <a:srgbClr val="111827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111827"/>
                </a:solidFill>
                <a:latin typeface="Calibri"/>
                <a:ea typeface="Calibri"/>
                <a:cs typeface="Calibri"/>
              </a:rPr>
              <a:t>Preparar somente leitura; confirmar offset, AB12, porta do switch e identidade do Ladder; depois liberar handshake e escrita.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38D0389E-FCA3-4B7E-8480-1D03A1120545}"/>
              </a:ext>
            </a:extLst>
          </p:cNvPr>
          <p:cNvSpPr>
            <a:spLocks noGrp="1"/>
          </p:cNvSpPr>
          <p:nvPr/>
        </p:nvSpPr>
        <p:spPr>
          <a:xfrm>
            <a:off x="2143125" y="5572125"/>
            <a:ext cx="7905750" cy="552450"/>
          </a:xfrm>
          <a:prstGeom prst="roundRect">
            <a:avLst>
              <a:gd name="adj" fmla="val 24138"/>
            </a:avLst>
          </a:prstGeom>
          <a:solidFill>
            <a:srgbClr val="E9F8EE"/>
          </a:solidFill>
          <a:ln w="11430">
            <a:solidFill>
              <a:srgbClr val="82D39C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53833A4B-0748-4BDB-8B6E-0F29E687AC63}"/>
              </a:ext>
            </a:extLst>
          </p:cNvPr>
          <p:cNvSpPr>
            <a:spLocks noGrp="1"/>
          </p:cNvSpPr>
          <p:nvPr/>
        </p:nvSpPr>
        <p:spPr>
          <a:xfrm>
            <a:off x="2381250" y="5695950"/>
            <a:ext cx="7429500" cy="3048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rmAutofit fontScale="92348" lnSpcReduction="10000"/>
          </a:bodyPr>
          <a:lstStyle/>
          <a:p>
            <a:pPr algn="ctr">
              <a:buNone/>
              <a:defRPr sz="1650" b="1">
                <a:solidFill>
                  <a:srgbClr val="087A35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087A35"/>
                </a:solidFill>
                <a:latin typeface="Calibri"/>
                <a:ea typeface="Calibri"/>
                <a:cs typeface="Calibri"/>
              </a:rPr>
              <a:t>Meta: concluir a validação simulada e preparar o comissionamento com segurança.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9" name="Painel branco">
            <a:extLst>
              <a:ext uri="{FF2B5EF4-FFF2-40B4-BE49-F238E27FC236}">
                <a16:creationId xmlns:a16="http://schemas.microsoft.com/office/drawing/2014/main" id="{44AE4479-BAC9-4327-8C34-62181062F939}"/>
              </a:ext>
            </a:extLst>
          </p:cNvPr>
          <p:cNvSpPr>
            <a:spLocks noGrp="1"/>
          </p:cNvSpPr>
          <p:nvPr/>
        </p:nvSpPr>
        <p:spPr>
          <a:xfrm>
            <a:off x="723900" y="171450"/>
            <a:ext cx="10572750" cy="61722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" name="Título">
            <a:extLst>
              <a:ext uri="{FF2B5EF4-FFF2-40B4-BE49-F238E27FC236}">
                <a16:creationId xmlns:a16="http://schemas.microsoft.com/office/drawing/2014/main" id="{A322BD41-DD21-4F73-8A24-0CEA87E8E102}"/>
              </a:ext>
            </a:extLst>
          </p:cNvPr>
          <p:cNvSpPr>
            <a:spLocks noGrp="1"/>
          </p:cNvSpPr>
          <p:nvPr/>
        </p:nvSpPr>
        <p:spPr>
          <a:xfrm>
            <a:off x="914400" y="266700"/>
            <a:ext cx="9906000" cy="523875"/>
          </a:xfrm>
          <a:prstGeom prst="rect">
            <a:avLst/>
          </a:prstGeom>
          <a:noFill/>
          <a:ln w="0">
            <a:noFill/>
          </a:ln>
        </p:spPr>
        <p:txBody>
          <a:bodyPr wrap="square" anchor="ctr">
            <a:noAutofit/>
          </a:bodyPr>
          <a:lstStyle/>
          <a:p>
            <a:pPr>
              <a:defRPr sz="2850" b="1">
                <a:solidFill>
                  <a:srgbClr val="0B2F66"/>
                </a:solidFill>
                <a:latin typeface="Calibri"/>
                <a:ea typeface="Calibri"/>
                <a:cs typeface="Calibri"/>
              </a:defRPr>
            </a:pPr>
            <a:r>
              <a:rPr sz="2850" b="1">
                <a:solidFill>
                  <a:srgbClr val="0B2F66"/>
                </a:solidFill>
                <a:latin typeface="Calibri"/>
                <a:ea typeface="Calibri"/>
                <a:cs typeface="Calibri"/>
              </a:rPr>
              <a:t>Pendências da máquina e da Automação</a:t>
            </a:r>
          </a:p>
        </p:txBody>
      </p:sp>
      <p:sp>
        <p:nvSpPr>
          <p:cNvPr id="4" name="Destaque verde">
            <a:extLst>
              <a:ext uri="{FF2B5EF4-FFF2-40B4-BE49-F238E27FC236}">
                <a16:creationId xmlns:a16="http://schemas.microsoft.com/office/drawing/2014/main" id="{9AB663EF-17B6-4FA8-9F61-C7240DE7736D}"/>
              </a:ext>
            </a:extLst>
          </p:cNvPr>
          <p:cNvSpPr>
            <a:spLocks noGrp="1"/>
          </p:cNvSpPr>
          <p:nvPr/>
        </p:nvSpPr>
        <p:spPr>
          <a:xfrm>
            <a:off x="914400" y="866775"/>
            <a:ext cx="781050" cy="47625"/>
          </a:xfrm>
          <a:prstGeom prst="rect">
            <a:avLst/>
          </a:prstGeom>
          <a:solidFill>
            <a:srgbClr val="08B64B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" name="Número 1">
            <a:extLst>
              <a:ext uri="{FF2B5EF4-FFF2-40B4-BE49-F238E27FC236}">
                <a16:creationId xmlns:a16="http://schemas.microsoft.com/office/drawing/2014/main" id="{8EF7955A-F54F-4324-8BB6-1E8569798FC5}"/>
              </a:ext>
            </a:extLst>
          </p:cNvPr>
          <p:cNvSpPr>
            <a:spLocks noGrp="1"/>
          </p:cNvSpPr>
          <p:nvPr/>
        </p:nvSpPr>
        <p:spPr>
          <a:xfrm>
            <a:off x="1047750" y="1238250"/>
            <a:ext cx="523875" cy="523875"/>
          </a:xfrm>
          <a:prstGeom prst="rect">
            <a:avLst/>
          </a:prstGeom>
          <a:noFill/>
          <a:ln w="0">
            <a:noFill/>
          </a:ln>
        </p:spPr>
        <p:txBody>
          <a:bodyPr wrap="square" anchor="ctr">
            <a:noAutofit/>
          </a:bodyPr>
          <a:lstStyle/>
          <a:p>
            <a:pPr>
              <a:defRPr sz="2400" b="1">
                <a:solidFill>
                  <a:srgbClr val="08B64B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8B64B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6" name="Item 1">
            <a:extLst>
              <a:ext uri="{FF2B5EF4-FFF2-40B4-BE49-F238E27FC236}">
                <a16:creationId xmlns:a16="http://schemas.microsoft.com/office/drawing/2014/main" id="{5E3F703A-D511-4AFC-864A-44E7B3FA1EB0}"/>
              </a:ext>
            </a:extLst>
          </p:cNvPr>
          <p:cNvSpPr>
            <a:spLocks noGrp="1"/>
          </p:cNvSpPr>
          <p:nvPr/>
        </p:nvSpPr>
        <p:spPr>
          <a:xfrm>
            <a:off x="1762125" y="1238250"/>
            <a:ext cx="3333750" cy="428625"/>
          </a:xfrm>
          <a:prstGeom prst="rect">
            <a:avLst/>
          </a:prstGeom>
          <a:noFill/>
          <a:ln w="0">
            <a:noFill/>
          </a:ln>
        </p:spPr>
        <p:txBody>
          <a:bodyPr wrap="square" anchor="ctr">
            <a:noAutofit/>
          </a:bodyPr>
          <a:lstStyle/>
          <a:p>
            <a:pPr>
              <a:defRPr sz="1650" b="1">
                <a:solidFill>
                  <a:srgbClr val="0B2F66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0B2F66"/>
                </a:solidFill>
                <a:latin typeface="Calibri"/>
                <a:ea typeface="Calibri"/>
                <a:cs typeface="Calibri"/>
              </a:rPr>
              <a:t>Ladder e integração</a:t>
            </a:r>
          </a:p>
        </p:txBody>
      </p:sp>
      <p:sp>
        <p:nvSpPr>
          <p:cNvPr id="7" name="Descrição 1">
            <a:extLst>
              <a:ext uri="{FF2B5EF4-FFF2-40B4-BE49-F238E27FC236}">
                <a16:creationId xmlns:a16="http://schemas.microsoft.com/office/drawing/2014/main" id="{01EA5BA9-8631-4203-9F6D-7F756FB971BA}"/>
              </a:ext>
            </a:extLst>
          </p:cNvPr>
          <p:cNvSpPr>
            <a:spLocks noGrp="1"/>
          </p:cNvSpPr>
          <p:nvPr/>
        </p:nvSpPr>
        <p:spPr>
          <a:xfrm>
            <a:off x="5143500" y="1238250"/>
            <a:ext cx="5715000" cy="590550"/>
          </a:xfrm>
          <a:prstGeom prst="rect">
            <a:avLst/>
          </a:prstGeom>
          <a:noFill/>
          <a:ln w="0">
            <a:noFill/>
          </a:ln>
        </p:spPr>
        <p:txBody>
          <a:bodyPr wrap="square" anchor="ctr">
            <a:noAutofit/>
          </a:bodyPr>
          <a:lstStyle/>
          <a:p>
            <a:pPr>
              <a:defRPr sz="1350">
                <a:solidFill>
                  <a:srgbClr val="171D28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171D28"/>
                </a:solidFill>
                <a:latin typeface="Calibri"/>
                <a:ea typeface="Calibri"/>
                <a:cs typeface="Calibri"/>
              </a:rPr>
              <a:t>Rev.04 compilada e validada no ISPSoft; EtherNet/IP entre SR-1000 e CLP.</a:t>
            </a:r>
          </a:p>
        </p:txBody>
      </p:sp>
      <p:sp>
        <p:nvSpPr>
          <p:cNvPr id="8" name="Número 2">
            <a:extLst>
              <a:ext uri="{FF2B5EF4-FFF2-40B4-BE49-F238E27FC236}">
                <a16:creationId xmlns:a16="http://schemas.microsoft.com/office/drawing/2014/main" id="{B3E0701E-2B8A-4DA7-B545-3C9AA866ECA9}"/>
              </a:ext>
            </a:extLst>
          </p:cNvPr>
          <p:cNvSpPr>
            <a:spLocks noGrp="1"/>
          </p:cNvSpPr>
          <p:nvPr/>
        </p:nvSpPr>
        <p:spPr>
          <a:xfrm>
            <a:off x="1047750" y="2305050"/>
            <a:ext cx="523875" cy="523875"/>
          </a:xfrm>
          <a:prstGeom prst="rect">
            <a:avLst/>
          </a:prstGeom>
          <a:noFill/>
          <a:ln w="0">
            <a:noFill/>
          </a:ln>
        </p:spPr>
        <p:txBody>
          <a:bodyPr wrap="square" anchor="ctr">
            <a:noAutofit/>
          </a:bodyPr>
          <a:lstStyle/>
          <a:p>
            <a:pPr>
              <a:defRPr sz="2400" b="1">
                <a:solidFill>
                  <a:srgbClr val="08B64B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8B64B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9" name="Item 2">
            <a:extLst>
              <a:ext uri="{FF2B5EF4-FFF2-40B4-BE49-F238E27FC236}">
                <a16:creationId xmlns:a16="http://schemas.microsoft.com/office/drawing/2014/main" id="{C7644856-888C-47A4-B1CC-44022DC02B69}"/>
              </a:ext>
            </a:extLst>
          </p:cNvPr>
          <p:cNvSpPr>
            <a:spLocks noGrp="1"/>
          </p:cNvSpPr>
          <p:nvPr/>
        </p:nvSpPr>
        <p:spPr>
          <a:xfrm>
            <a:off x="1762125" y="2305050"/>
            <a:ext cx="3333750" cy="428625"/>
          </a:xfrm>
          <a:prstGeom prst="rect">
            <a:avLst/>
          </a:prstGeom>
          <a:noFill/>
          <a:ln w="0">
            <a:noFill/>
          </a:ln>
        </p:spPr>
        <p:txBody>
          <a:bodyPr wrap="square" anchor="ctr">
            <a:noAutofit/>
          </a:bodyPr>
          <a:lstStyle/>
          <a:p>
            <a:pPr>
              <a:defRPr sz="1650" b="1">
                <a:solidFill>
                  <a:srgbClr val="0B2F66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0B2F66"/>
                </a:solidFill>
                <a:latin typeface="Calibri"/>
                <a:ea typeface="Calibri"/>
                <a:cs typeface="Calibri"/>
              </a:rPr>
              <a:t>Máquina e rede</a:t>
            </a:r>
          </a:p>
        </p:txBody>
      </p:sp>
      <p:sp>
        <p:nvSpPr>
          <p:cNvPr id="10" name="Descrição 2">
            <a:extLst>
              <a:ext uri="{FF2B5EF4-FFF2-40B4-BE49-F238E27FC236}">
                <a16:creationId xmlns:a16="http://schemas.microsoft.com/office/drawing/2014/main" id="{D3D1F5EC-D27B-41C9-B9AB-9CBCB5A3167B}"/>
              </a:ext>
            </a:extLst>
          </p:cNvPr>
          <p:cNvSpPr>
            <a:spLocks noGrp="1"/>
          </p:cNvSpPr>
          <p:nvPr/>
        </p:nvSpPr>
        <p:spPr>
          <a:xfrm>
            <a:off x="5143500" y="2305050"/>
            <a:ext cx="5715000" cy="590550"/>
          </a:xfrm>
          <a:prstGeom prst="rect">
            <a:avLst/>
          </a:prstGeom>
          <a:noFill/>
          <a:ln w="0">
            <a:noFill/>
          </a:ln>
        </p:spPr>
        <p:txBody>
          <a:bodyPr wrap="square" anchor="ctr">
            <a:noAutofit/>
          </a:bodyPr>
          <a:lstStyle/>
          <a:p>
            <a:pPr>
              <a:defRPr sz="1350">
                <a:solidFill>
                  <a:srgbClr val="171D28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171D28"/>
                </a:solidFill>
                <a:latin typeface="Calibri"/>
                <a:ea typeface="Calibri"/>
                <a:cs typeface="Calibri"/>
              </a:rPr>
              <a:t>Validar o leitor físico; confirmar a rede e o IP reservado para o PC.</a:t>
            </a:r>
          </a:p>
        </p:txBody>
      </p:sp>
      <p:sp>
        <p:nvSpPr>
          <p:cNvPr id="11" name="Número 3">
            <a:extLst>
              <a:ext uri="{FF2B5EF4-FFF2-40B4-BE49-F238E27FC236}">
                <a16:creationId xmlns:a16="http://schemas.microsoft.com/office/drawing/2014/main" id="{A6CC42B6-B1F1-4638-B43C-9D68D5535FDF}"/>
              </a:ext>
            </a:extLst>
          </p:cNvPr>
          <p:cNvSpPr>
            <a:spLocks noGrp="1"/>
          </p:cNvSpPr>
          <p:nvPr/>
        </p:nvSpPr>
        <p:spPr>
          <a:xfrm>
            <a:off x="1047750" y="3371850"/>
            <a:ext cx="523875" cy="523875"/>
          </a:xfrm>
          <a:prstGeom prst="rect">
            <a:avLst/>
          </a:prstGeom>
          <a:noFill/>
          <a:ln w="0">
            <a:noFill/>
          </a:ln>
        </p:spPr>
        <p:txBody>
          <a:bodyPr wrap="square" anchor="ctr">
            <a:noAutofit/>
          </a:bodyPr>
          <a:lstStyle/>
          <a:p>
            <a:pPr>
              <a:defRPr sz="2400" b="1">
                <a:solidFill>
                  <a:srgbClr val="08B64B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8B64B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2" name="Item 3">
            <a:extLst>
              <a:ext uri="{FF2B5EF4-FFF2-40B4-BE49-F238E27FC236}">
                <a16:creationId xmlns:a16="http://schemas.microsoft.com/office/drawing/2014/main" id="{3B880230-BFB8-4FC3-BE9A-35654AE88BB9}"/>
              </a:ext>
            </a:extLst>
          </p:cNvPr>
          <p:cNvSpPr>
            <a:spLocks noGrp="1"/>
          </p:cNvSpPr>
          <p:nvPr/>
        </p:nvSpPr>
        <p:spPr>
          <a:xfrm>
            <a:off x="1762125" y="3371850"/>
            <a:ext cx="3333750" cy="428625"/>
          </a:xfrm>
          <a:prstGeom prst="rect">
            <a:avLst/>
          </a:prstGeom>
          <a:noFill/>
          <a:ln w="0">
            <a:noFill/>
          </a:ln>
        </p:spPr>
        <p:txBody>
          <a:bodyPr wrap="square" anchor="ctr">
            <a:noAutofit/>
          </a:bodyPr>
          <a:lstStyle/>
          <a:p>
            <a:pPr>
              <a:defRPr sz="1650" b="1">
                <a:solidFill>
                  <a:srgbClr val="0B2F66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0B2F66"/>
                </a:solidFill>
                <a:latin typeface="Calibri"/>
                <a:ea typeface="Calibri"/>
                <a:cs typeface="Calibri"/>
              </a:rPr>
              <a:t>Regras de dados</a:t>
            </a:r>
          </a:p>
        </p:txBody>
      </p:sp>
      <p:sp>
        <p:nvSpPr>
          <p:cNvPr id="13" name="Descrição 3">
            <a:extLst>
              <a:ext uri="{FF2B5EF4-FFF2-40B4-BE49-F238E27FC236}">
                <a16:creationId xmlns:a16="http://schemas.microsoft.com/office/drawing/2014/main" id="{112B1BA3-9CD1-4429-92FF-7377DDF7833B}"/>
              </a:ext>
            </a:extLst>
          </p:cNvPr>
          <p:cNvSpPr>
            <a:spLocks noGrp="1"/>
          </p:cNvSpPr>
          <p:nvPr/>
        </p:nvSpPr>
        <p:spPr>
          <a:xfrm>
            <a:off x="5143500" y="3371850"/>
            <a:ext cx="5715000" cy="590550"/>
          </a:xfrm>
          <a:prstGeom prst="rect">
            <a:avLst/>
          </a:prstGeom>
          <a:noFill/>
          <a:ln w="0">
            <a:noFill/>
          </a:ln>
        </p:spPr>
        <p:txBody>
          <a:bodyPr wrap="square" anchor="ctr">
            <a:noAutofit/>
          </a:bodyPr>
          <a:lstStyle/>
          <a:p>
            <a:pPr>
              <a:defRPr sz="1350">
                <a:solidFill>
                  <a:srgbClr val="171D28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171D28"/>
                </a:solidFill>
                <a:latin typeface="Calibri"/>
                <a:ea typeface="Calibri"/>
                <a:cs typeface="Calibri"/>
              </a:rPr>
              <a:t>Decidir conteúdo bruto acima de 64 bytes; aprovar perfis, motivos e limites de reteste.</a:t>
            </a:r>
          </a:p>
        </p:txBody>
      </p:sp>
      <p:sp>
        <p:nvSpPr>
          <p:cNvPr id="14" name="Número 4">
            <a:extLst>
              <a:ext uri="{FF2B5EF4-FFF2-40B4-BE49-F238E27FC236}">
                <a16:creationId xmlns:a16="http://schemas.microsoft.com/office/drawing/2014/main" id="{D66DA5FB-AC20-423A-9D3D-7EE6BC726552}"/>
              </a:ext>
            </a:extLst>
          </p:cNvPr>
          <p:cNvSpPr>
            <a:spLocks noGrp="1"/>
          </p:cNvSpPr>
          <p:nvPr/>
        </p:nvSpPr>
        <p:spPr>
          <a:xfrm>
            <a:off x="1047750" y="4438650"/>
            <a:ext cx="523875" cy="523875"/>
          </a:xfrm>
          <a:prstGeom prst="rect">
            <a:avLst/>
          </a:prstGeom>
          <a:noFill/>
          <a:ln w="0">
            <a:noFill/>
          </a:ln>
        </p:spPr>
        <p:txBody>
          <a:bodyPr wrap="square" anchor="ctr">
            <a:noAutofit/>
          </a:bodyPr>
          <a:lstStyle/>
          <a:p>
            <a:pPr>
              <a:defRPr sz="2400" b="1">
                <a:solidFill>
                  <a:srgbClr val="08B64B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8B64B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15" name="Item 4">
            <a:extLst>
              <a:ext uri="{FF2B5EF4-FFF2-40B4-BE49-F238E27FC236}">
                <a16:creationId xmlns:a16="http://schemas.microsoft.com/office/drawing/2014/main" id="{91724F3B-1153-4F64-9407-93D0E776E839}"/>
              </a:ext>
            </a:extLst>
          </p:cNvPr>
          <p:cNvSpPr>
            <a:spLocks noGrp="1"/>
          </p:cNvSpPr>
          <p:nvPr/>
        </p:nvSpPr>
        <p:spPr>
          <a:xfrm>
            <a:off x="1762125" y="4438650"/>
            <a:ext cx="3333750" cy="428625"/>
          </a:xfrm>
          <a:prstGeom prst="rect">
            <a:avLst/>
          </a:prstGeom>
          <a:noFill/>
          <a:ln w="0">
            <a:noFill/>
          </a:ln>
        </p:spPr>
        <p:txBody>
          <a:bodyPr wrap="square" anchor="ctr">
            <a:noAutofit/>
          </a:bodyPr>
          <a:lstStyle/>
          <a:p>
            <a:pPr>
              <a:defRPr sz="1650" b="1">
                <a:solidFill>
                  <a:srgbClr val="0B2F66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0B2F66"/>
                </a:solidFill>
                <a:latin typeface="Calibri"/>
                <a:ea typeface="Calibri"/>
                <a:cs typeface="Calibri"/>
              </a:rPr>
              <a:t>Autorização</a:t>
            </a:r>
          </a:p>
        </p:txBody>
      </p:sp>
      <p:sp>
        <p:nvSpPr>
          <p:cNvPr id="16" name="Descrição 4">
            <a:extLst>
              <a:ext uri="{FF2B5EF4-FFF2-40B4-BE49-F238E27FC236}">
                <a16:creationId xmlns:a16="http://schemas.microsoft.com/office/drawing/2014/main" id="{CBDEE69F-78D5-46F4-9F46-F1FF98DFA9B4}"/>
              </a:ext>
            </a:extLst>
          </p:cNvPr>
          <p:cNvSpPr>
            <a:spLocks noGrp="1"/>
          </p:cNvSpPr>
          <p:nvPr/>
        </p:nvSpPr>
        <p:spPr>
          <a:xfrm>
            <a:off x="5143500" y="4438650"/>
            <a:ext cx="5715000" cy="590550"/>
          </a:xfrm>
          <a:prstGeom prst="rect">
            <a:avLst/>
          </a:prstGeom>
          <a:noFill/>
          <a:ln w="0">
            <a:noFill/>
          </a:ln>
        </p:spPr>
        <p:txBody>
          <a:bodyPr wrap="square" anchor="ctr">
            <a:noAutofit/>
          </a:bodyPr>
          <a:lstStyle/>
          <a:p>
            <a:pPr>
              <a:defRPr sz="1350">
                <a:solidFill>
                  <a:srgbClr val="171D28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171D28"/>
                </a:solidFill>
                <a:latin typeface="Calibri"/>
                <a:ea typeface="Calibri"/>
                <a:cs typeface="Calibri"/>
              </a:rPr>
              <a:t>Qualidade, Produção e Automação devem liberar escrita controlada e ciclo real.</a:t>
            </a:r>
          </a:p>
        </p:txBody>
      </p:sp>
      <p:sp>
        <p:nvSpPr>
          <p:cNvPr id="17" name="Faixa final">
            <a:extLst>
              <a:ext uri="{FF2B5EF4-FFF2-40B4-BE49-F238E27FC236}">
                <a16:creationId xmlns:a16="http://schemas.microsoft.com/office/drawing/2014/main" id="{0B7B77B3-D126-4320-848C-A969B5B37C44}"/>
              </a:ext>
            </a:extLst>
          </p:cNvPr>
          <p:cNvSpPr>
            <a:spLocks noGrp="1"/>
          </p:cNvSpPr>
          <p:nvPr/>
        </p:nvSpPr>
        <p:spPr>
          <a:xfrm>
            <a:off x="2143125" y="5572125"/>
            <a:ext cx="7905750" cy="552450"/>
          </a:xfrm>
          <a:prstGeom prst="roundRect">
            <a:avLst>
              <a:gd name="adj" fmla="val 13793"/>
            </a:avLst>
          </a:prstGeom>
          <a:solidFill>
            <a:srgbClr val="E8F7EE"/>
          </a:solidFill>
          <a:ln w="9525">
            <a:solidFill>
              <a:srgbClr val="67D78F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8" name="Mensagem final">
            <a:extLst>
              <a:ext uri="{FF2B5EF4-FFF2-40B4-BE49-F238E27FC236}">
                <a16:creationId xmlns:a16="http://schemas.microsoft.com/office/drawing/2014/main" id="{7AB2D9A1-A4B8-4D4C-B050-71B4125E74F3}"/>
              </a:ext>
            </a:extLst>
          </p:cNvPr>
          <p:cNvSpPr>
            <a:spLocks noGrp="1"/>
          </p:cNvSpPr>
          <p:nvPr/>
        </p:nvSpPr>
        <p:spPr>
          <a:xfrm>
            <a:off x="2381250" y="5695950"/>
            <a:ext cx="7429500" cy="304800"/>
          </a:xfrm>
          <a:prstGeom prst="rect">
            <a:avLst/>
          </a:prstGeom>
          <a:noFill/>
          <a:ln w="0">
            <a:noFill/>
          </a:ln>
        </p:spPr>
        <p:txBody>
          <a:bodyPr wrap="square" anchor="ctr">
            <a:noAutofit/>
          </a:bodyPr>
          <a:lstStyle/>
          <a:p>
            <a:pPr>
              <a:defRPr sz="1350" b="1">
                <a:solidFill>
                  <a:srgbClr val="087B35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087B35"/>
                </a:solidFill>
                <a:latin typeface="Calibri"/>
                <a:ea typeface="Calibri"/>
                <a:cs typeface="Calibri"/>
              </a:rPr>
              <a:t>Itens dependentes da disponibilidade da máquina e das definições da Automação.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9" name="Retângulo 1">
            <a:extLst>
              <a:ext uri="{FF2B5EF4-FFF2-40B4-BE49-F238E27FC236}">
                <a16:creationId xmlns:a16="http://schemas.microsoft.com/office/drawing/2014/main" id="{588329E3-85C3-41E1-9ECD-6F3903EBCD13}"/>
              </a:ext>
            </a:extLst>
          </p:cNvPr>
          <p:cNvSpPr>
            <a:spLocks noGrp="1"/>
          </p:cNvSpPr>
          <p:nvPr/>
        </p:nvSpPr>
        <p:spPr>
          <a:xfrm>
            <a:off x="723900" y="171450"/>
            <a:ext cx="10572750" cy="61722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127CB344-780B-4534-B45C-B242ACF3D048}"/>
              </a:ext>
            </a:extLst>
          </p:cNvPr>
          <p:cNvSpPr>
            <a:spLocks noGrp="1"/>
          </p:cNvSpPr>
          <p:nvPr/>
        </p:nvSpPr>
        <p:spPr>
          <a:xfrm>
            <a:off x="914400" y="266700"/>
            <a:ext cx="9906000" cy="523875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rmAutofit fontScale="99561"/>
          </a:bodyPr>
          <a:lstStyle/>
          <a:p>
            <a:pPr>
              <a:buNone/>
              <a:defRPr sz="2850" b="1">
                <a:solidFill>
                  <a:srgbClr val="092C61"/>
                </a:solidFill>
                <a:latin typeface="Calibri"/>
                <a:ea typeface="Calibri"/>
                <a:cs typeface="Calibri"/>
              </a:defRPr>
            </a:pPr>
            <a:r>
              <a:rPr sz="2850" b="1">
                <a:solidFill>
                  <a:srgbClr val="092C61"/>
                </a:solidFill>
                <a:latin typeface="Calibri"/>
                <a:ea typeface="Calibri"/>
                <a:cs typeface="Calibri"/>
              </a:rPr>
              <a:t>Situação geral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AC7B90E4-752F-4C01-92A7-5B66263CE414}"/>
              </a:ext>
            </a:extLst>
          </p:cNvPr>
          <p:cNvSpPr>
            <a:spLocks noGrp="1"/>
          </p:cNvSpPr>
          <p:nvPr/>
        </p:nvSpPr>
        <p:spPr>
          <a:xfrm>
            <a:off x="914400" y="866775"/>
            <a:ext cx="781050" cy="47625"/>
          </a:xfrm>
          <a:prstGeom prst="rect">
            <a:avLst/>
          </a:prstGeom>
          <a:solidFill>
            <a:srgbClr val="06B945"/>
          </a:solidFill>
          <a:ln w="0">
            <a:solidFill>
              <a:srgbClr val="06B945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A8E9256F-DEB5-4EC5-A428-145DE7BFC842}"/>
              </a:ext>
            </a:extLst>
          </p:cNvPr>
          <p:cNvSpPr>
            <a:spLocks noGrp="1"/>
          </p:cNvSpPr>
          <p:nvPr/>
        </p:nvSpPr>
        <p:spPr>
          <a:xfrm>
            <a:off x="1047750" y="1238250"/>
            <a:ext cx="523875" cy="523875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rmAutofit/>
          </a:bodyPr>
          <a:lstStyle/>
          <a:p>
            <a:pPr algn="ctr">
              <a:buNone/>
              <a:defRPr sz="2550" b="1">
                <a:solidFill>
                  <a:srgbClr val="06B945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B945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EE993FCF-2654-4B9B-A88B-18941281BD71}"/>
              </a:ext>
            </a:extLst>
          </p:cNvPr>
          <p:cNvSpPr>
            <a:spLocks noGrp="1"/>
          </p:cNvSpPr>
          <p:nvPr/>
        </p:nvSpPr>
        <p:spPr>
          <a:xfrm>
            <a:off x="1762125" y="1238250"/>
            <a:ext cx="3333750" cy="36195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rmAutofit/>
          </a:bodyPr>
          <a:lstStyle/>
          <a:p>
            <a:pPr>
              <a:buNone/>
              <a:defRPr sz="1725" b="1">
                <a:solidFill>
                  <a:srgbClr val="092C61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092C61"/>
                </a:solidFill>
                <a:latin typeface="Calibri"/>
                <a:ea typeface="Calibri"/>
                <a:cs typeface="Calibri"/>
              </a:rPr>
              <a:t>Base preparada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1BFBC101-D9AE-4C81-83C0-B24185821519}"/>
              </a:ext>
            </a:extLst>
          </p:cNvPr>
          <p:cNvSpPr>
            <a:spLocks noGrp="1"/>
          </p:cNvSpPr>
          <p:nvPr/>
        </p:nvSpPr>
        <p:spPr>
          <a:xfrm>
            <a:off x="5143500" y="1238250"/>
            <a:ext cx="5715000" cy="523875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rmAutofit fontScale="94583"/>
          </a:bodyPr>
          <a:lstStyle/>
          <a:p>
            <a:pPr>
              <a:buNone/>
              <a:defRPr sz="1500">
                <a:solidFill>
                  <a:srgbClr val="111827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111827"/>
                </a:solidFill>
                <a:latin typeface="Calibri"/>
                <a:ea typeface="Calibri"/>
                <a:cs typeface="Calibri"/>
              </a:rPr>
              <a:t>Software e ambiente de simulação estão preparados e testados.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CDB12C05-B6A6-41CA-B5F3-E084E9DB603E}"/>
              </a:ext>
            </a:extLst>
          </p:cNvPr>
          <p:cNvSpPr>
            <a:spLocks noGrp="1"/>
          </p:cNvSpPr>
          <p:nvPr/>
        </p:nvSpPr>
        <p:spPr>
          <a:xfrm>
            <a:off x="1047750" y="2305050"/>
            <a:ext cx="523875" cy="523875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rmAutofit/>
          </a:bodyPr>
          <a:lstStyle/>
          <a:p>
            <a:pPr algn="ctr">
              <a:buNone/>
              <a:defRPr sz="2550" b="1">
                <a:solidFill>
                  <a:srgbClr val="06B945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B945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4C35BD70-7E94-4F71-B586-A01E259697B9}"/>
              </a:ext>
            </a:extLst>
          </p:cNvPr>
          <p:cNvSpPr>
            <a:spLocks noGrp="1"/>
          </p:cNvSpPr>
          <p:nvPr/>
        </p:nvSpPr>
        <p:spPr>
          <a:xfrm>
            <a:off x="1762125" y="2305050"/>
            <a:ext cx="3333750" cy="36195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rmAutofit/>
          </a:bodyPr>
          <a:lstStyle/>
          <a:p>
            <a:pPr>
              <a:buNone/>
              <a:defRPr sz="1725" b="1">
                <a:solidFill>
                  <a:srgbClr val="092C61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092C61"/>
                </a:solidFill>
                <a:latin typeface="Calibri"/>
                <a:ea typeface="Calibri"/>
                <a:cs typeface="Calibri"/>
              </a:rPr>
              <a:t>Fase atual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4D950FC0-CB60-41CF-9DEE-5517CF8998C7}"/>
              </a:ext>
            </a:extLst>
          </p:cNvPr>
          <p:cNvSpPr>
            <a:spLocks noGrp="1"/>
          </p:cNvSpPr>
          <p:nvPr/>
        </p:nvSpPr>
        <p:spPr>
          <a:xfrm>
            <a:off x="5143500" y="2305050"/>
            <a:ext cx="5715000" cy="523875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rmAutofit fontScale="94583"/>
          </a:bodyPr>
          <a:lstStyle/>
          <a:p>
            <a:pPr>
              <a:buNone/>
              <a:defRPr sz="1500">
                <a:solidFill>
                  <a:srgbClr val="111827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111827"/>
                </a:solidFill>
                <a:latin typeface="Calibri"/>
                <a:ea typeface="Calibri"/>
                <a:cs typeface="Calibri"/>
              </a:rPr>
              <a:t>Conclusão da validação ponta a ponta no ambiente simulado.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2271EDEB-3CDE-425B-B43C-5EEEE9706A5C}"/>
              </a:ext>
            </a:extLst>
          </p:cNvPr>
          <p:cNvSpPr>
            <a:spLocks noGrp="1"/>
          </p:cNvSpPr>
          <p:nvPr/>
        </p:nvSpPr>
        <p:spPr>
          <a:xfrm>
            <a:off x="1047750" y="3371850"/>
            <a:ext cx="523875" cy="523875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rmAutofit/>
          </a:bodyPr>
          <a:lstStyle/>
          <a:p>
            <a:pPr algn="ctr">
              <a:buNone/>
              <a:defRPr sz="2550" b="1">
                <a:solidFill>
                  <a:srgbClr val="06B945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B945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65B22B69-EA4B-4852-BD9C-3AB35976491F}"/>
              </a:ext>
            </a:extLst>
          </p:cNvPr>
          <p:cNvSpPr>
            <a:spLocks noGrp="1"/>
          </p:cNvSpPr>
          <p:nvPr/>
        </p:nvSpPr>
        <p:spPr>
          <a:xfrm>
            <a:off x="1762125" y="3371850"/>
            <a:ext cx="3333750" cy="36195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rmAutofit/>
          </a:bodyPr>
          <a:lstStyle/>
          <a:p>
            <a:pPr>
              <a:buNone/>
              <a:defRPr sz="1725" b="1">
                <a:solidFill>
                  <a:srgbClr val="092C61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092C61"/>
                </a:solidFill>
                <a:latin typeface="Calibri"/>
                <a:ea typeface="Calibri"/>
                <a:cs typeface="Calibri"/>
              </a:rPr>
              <a:t>Próxima transição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2A3FE523-4F8A-42D9-BE6D-F0E89766744F}"/>
              </a:ext>
            </a:extLst>
          </p:cNvPr>
          <p:cNvSpPr>
            <a:spLocks noGrp="1"/>
          </p:cNvSpPr>
          <p:nvPr/>
        </p:nvSpPr>
        <p:spPr>
          <a:xfrm>
            <a:off x="5143500" y="3371850"/>
            <a:ext cx="5715000" cy="523875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rmAutofit fontScale="94583"/>
          </a:bodyPr>
          <a:lstStyle/>
          <a:p>
            <a:pPr>
              <a:buNone/>
              <a:defRPr sz="1500">
                <a:solidFill>
                  <a:srgbClr val="111827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111827"/>
                </a:solidFill>
                <a:latin typeface="Calibri"/>
                <a:ea typeface="Calibri"/>
                <a:cs typeface="Calibri"/>
              </a:rPr>
              <a:t>Comissionamento com o CLP real, inicialmente apenas para leitura e diagnóstico.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DB20A213-37B4-4EA5-AC24-152C04B95D9B}"/>
              </a:ext>
            </a:extLst>
          </p:cNvPr>
          <p:cNvSpPr>
            <a:spLocks noGrp="1"/>
          </p:cNvSpPr>
          <p:nvPr/>
        </p:nvSpPr>
        <p:spPr>
          <a:xfrm>
            <a:off x="1047750" y="4438650"/>
            <a:ext cx="523875" cy="523875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rmAutofit/>
          </a:bodyPr>
          <a:lstStyle/>
          <a:p>
            <a:pPr algn="ctr">
              <a:buNone/>
              <a:defRPr sz="2550" b="1">
                <a:solidFill>
                  <a:srgbClr val="06B945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B945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1030F9BE-8C06-40E2-A174-800938D0EF20}"/>
              </a:ext>
            </a:extLst>
          </p:cNvPr>
          <p:cNvSpPr>
            <a:spLocks noGrp="1"/>
          </p:cNvSpPr>
          <p:nvPr/>
        </p:nvSpPr>
        <p:spPr>
          <a:xfrm>
            <a:off x="1762125" y="4438650"/>
            <a:ext cx="3333750" cy="36195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rmAutofit/>
          </a:bodyPr>
          <a:lstStyle/>
          <a:p>
            <a:pPr>
              <a:buNone/>
              <a:defRPr sz="1725" b="1">
                <a:solidFill>
                  <a:srgbClr val="092C61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092C61"/>
                </a:solidFill>
                <a:latin typeface="Calibri"/>
                <a:ea typeface="Calibri"/>
                <a:cs typeface="Calibri"/>
              </a:rPr>
              <a:t>Proteção da máquina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8FD2F3E9-051B-4179-982E-1489835A9C69}"/>
              </a:ext>
            </a:extLst>
          </p:cNvPr>
          <p:cNvSpPr>
            <a:spLocks noGrp="1"/>
          </p:cNvSpPr>
          <p:nvPr/>
        </p:nvSpPr>
        <p:spPr>
          <a:xfrm>
            <a:off x="5143500" y="4438650"/>
            <a:ext cx="5715000" cy="523875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rmAutofit fontScale="94583"/>
          </a:bodyPr>
          <a:lstStyle/>
          <a:p>
            <a:pPr>
              <a:buNone/>
              <a:defRPr sz="1500">
                <a:solidFill>
                  <a:srgbClr val="111827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111827"/>
                </a:solidFill>
                <a:latin typeface="Calibri"/>
                <a:ea typeface="Calibri"/>
                <a:cs typeface="Calibri"/>
              </a:rPr>
              <a:t>Sem comandar saídas até a liberação controlada dos próximos testes.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38D0389E-FCA3-4B7E-8480-1D03A1120545}"/>
              </a:ext>
            </a:extLst>
          </p:cNvPr>
          <p:cNvSpPr>
            <a:spLocks noGrp="1"/>
          </p:cNvSpPr>
          <p:nvPr/>
        </p:nvSpPr>
        <p:spPr>
          <a:xfrm>
            <a:off x="2143125" y="5572125"/>
            <a:ext cx="7905750" cy="552450"/>
          </a:xfrm>
          <a:prstGeom prst="roundRect">
            <a:avLst>
              <a:gd name="adj" fmla="val 24138"/>
            </a:avLst>
          </a:prstGeom>
          <a:solidFill>
            <a:srgbClr val="E9F8EE"/>
          </a:solidFill>
          <a:ln w="11430">
            <a:solidFill>
              <a:srgbClr val="82D39C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53833A4B-0748-4BDB-8B6E-0F29E687AC63}"/>
              </a:ext>
            </a:extLst>
          </p:cNvPr>
          <p:cNvSpPr>
            <a:spLocks noGrp="1"/>
          </p:cNvSpPr>
          <p:nvPr/>
        </p:nvSpPr>
        <p:spPr>
          <a:xfrm>
            <a:off x="2381250" y="5695950"/>
            <a:ext cx="7429500" cy="3048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rmAutofit fontScale="92348" lnSpcReduction="10000"/>
          </a:bodyPr>
          <a:lstStyle/>
          <a:p>
            <a:pPr algn="ctr">
              <a:buNone/>
              <a:defRPr sz="1650" b="1">
                <a:solidFill>
                  <a:srgbClr val="087A35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087A35"/>
                </a:solidFill>
                <a:latin typeface="Calibri"/>
                <a:ea typeface="Calibri"/>
                <a:cs typeface="Calibri"/>
              </a:rPr>
              <a:t>Simulação pronta; o comissionamento real é o próximo marco.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onecthus AUTOPACKLINE">
      <a:dk1>
        <a:srgbClr val="000000"/>
      </a:dk1>
      <a:lt1>
        <a:srgbClr val="FFFFFF"/>
      </a:lt1>
      <a:dk2>
        <a:srgbClr val="092C61"/>
      </a:dk2>
      <a:lt2>
        <a:srgbClr val="E5E7EB"/>
      </a:lt2>
      <a:accent1>
        <a:srgbClr val="06B945"/>
      </a:accent1>
      <a:accent2>
        <a:srgbClr val="0873B9"/>
      </a:accent2>
      <a:accent3>
        <a:srgbClr val="092C61"/>
      </a:accent3>
      <a:accent4>
        <a:srgbClr val="F0B429"/>
      </a:accent4>
      <a:accent5>
        <a:srgbClr val="6B7280"/>
      </a:accent5>
      <a:accent6>
        <a:srgbClr val="16A34A"/>
      </a:accent6>
      <a:hlink>
        <a:srgbClr val="0873B9"/>
      </a:hlink>
      <a:folHlink>
        <a:srgbClr val="6D28D9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onecthus AUTOPACKLIN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700</Words>
  <Application>Microsoft Office PowerPoint</Application>
  <DocSecurity>0</DocSecurity>
  <PresentationFormat>Widescreen</PresentationFormat>
  <Paragraphs>96</Paragraphs>
  <Slides>7</Slides>
  <Notes>4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9" baseType="lpstr">
      <vt:lpstr>Calibri</vt:lpstr>
      <vt:lpstr>ChatGPT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Adrio Francisco De Queiroz Falcão</cp:lastModifiedBy>
  <cp:revision>3</cp:revision>
  <dcterms:created xsi:type="dcterms:W3CDTF">2026-09-10T19:58:26Z</dcterms:created>
  <dcterms:modified xsi:type="dcterms:W3CDTF">2026-09-18T19:48:26Z</dcterms:modified>
</cp:coreProperties>
</file>